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4" r:id="rId5"/>
  </p:sldMasterIdLst>
  <p:notesMasterIdLst>
    <p:notesMasterId r:id="rId35"/>
  </p:notesMasterIdLst>
  <p:sldIdLst>
    <p:sldId id="257" r:id="rId6"/>
    <p:sldId id="260" r:id="rId7"/>
    <p:sldId id="303" r:id="rId8"/>
    <p:sldId id="301" r:id="rId9"/>
    <p:sldId id="295" r:id="rId10"/>
    <p:sldId id="293" r:id="rId11"/>
    <p:sldId id="304" r:id="rId12"/>
    <p:sldId id="305" r:id="rId13"/>
    <p:sldId id="297" r:id="rId14"/>
    <p:sldId id="309" r:id="rId15"/>
    <p:sldId id="310" r:id="rId16"/>
    <p:sldId id="306" r:id="rId17"/>
    <p:sldId id="311" r:id="rId18"/>
    <p:sldId id="312" r:id="rId19"/>
    <p:sldId id="315" r:id="rId20"/>
    <p:sldId id="319" r:id="rId21"/>
    <p:sldId id="316" r:id="rId22"/>
    <p:sldId id="318" r:id="rId23"/>
    <p:sldId id="322" r:id="rId24"/>
    <p:sldId id="320" r:id="rId25"/>
    <p:sldId id="321" r:id="rId26"/>
    <p:sldId id="323" r:id="rId27"/>
    <p:sldId id="324" r:id="rId28"/>
    <p:sldId id="325" r:id="rId29"/>
    <p:sldId id="326" r:id="rId30"/>
    <p:sldId id="330" r:id="rId31"/>
    <p:sldId id="327" r:id="rId32"/>
    <p:sldId id="328" r:id="rId33"/>
    <p:sldId id="329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19A1"/>
    <a:srgbClr val="03C948"/>
    <a:srgbClr val="FFAD01"/>
    <a:srgbClr val="E31C79"/>
    <a:srgbClr val="D7DBDD"/>
    <a:srgbClr val="EAEEEF"/>
    <a:srgbClr val="F68220"/>
    <a:srgbClr val="002BCC"/>
    <a:srgbClr val="8038F0"/>
    <a:srgbClr val="01C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0E0E0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F0F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3191" autoAdjust="0"/>
  </p:normalViewPr>
  <p:slideViewPr>
    <p:cSldViewPr snapToGrid="0">
      <p:cViewPr varScale="1">
        <p:scale>
          <a:sx n="64" d="100"/>
          <a:sy n="64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8466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6399-A86F-DA96-7EAC-022421BC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C449B6-DBA8-CFD8-EB90-C58DDEFD3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92210E-3BCA-7A42-A7FD-2B90A0D6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7178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32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DFED7403-6140-3DCD-5EEC-60E0DF2FC9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5" descr="Imagem 5">
            <a:extLst>
              <a:ext uri="{FF2B5EF4-FFF2-40B4-BE49-F238E27FC236}">
                <a16:creationId xmlns:a16="http://schemas.microsoft.com/office/drawing/2014/main" id="{9AEE2207-9D70-DC20-5F3C-EF71B3D866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072445" y="680248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4530477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>
            <a:extLst>
              <a:ext uri="{FF2B5EF4-FFF2-40B4-BE49-F238E27FC236}">
                <a16:creationId xmlns:a16="http://schemas.microsoft.com/office/drawing/2014/main" id="{C9D7C112-E13D-F51F-A9D2-991E0F5950DB}"/>
              </a:ext>
            </a:extLst>
          </p:cNvPr>
          <p:cNvSpPr/>
          <p:nvPr userDrawn="1"/>
        </p:nvSpPr>
        <p:spPr>
          <a:xfrm rot="16200000">
            <a:off x="310926" y="428220"/>
            <a:ext cx="674433" cy="674433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A8E63C-2B04-226E-4A9D-56968FEE30E6}"/>
              </a:ext>
            </a:extLst>
          </p:cNvPr>
          <p:cNvSpPr/>
          <p:nvPr userDrawn="1"/>
        </p:nvSpPr>
        <p:spPr>
          <a:xfrm>
            <a:off x="398907" y="514643"/>
            <a:ext cx="501586" cy="501586"/>
          </a:xfrm>
          <a:prstGeom prst="ellipse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4D628912-E256-54CC-C36D-CF7FB7E153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10C313E2-6456-72BD-C5C0-1A658B6C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77" y="450930"/>
            <a:ext cx="10515600" cy="662782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rgbClr val="5219A1"/>
                </a:solidFill>
                <a:latin typeface="Axiforma Semi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900027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NZA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92821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ZA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55060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DFED7403-6140-3DCD-5EEC-60E0DF2FC9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9464374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5" descr="Imagem 5">
            <a:extLst>
              <a:ext uri="{FF2B5EF4-FFF2-40B4-BE49-F238E27FC236}">
                <a16:creationId xmlns:a16="http://schemas.microsoft.com/office/drawing/2014/main" id="{9AEE2207-9D70-DC20-5F3C-EF71B3D866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072445" y="680248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452140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>
            <a:extLst>
              <a:ext uri="{FF2B5EF4-FFF2-40B4-BE49-F238E27FC236}">
                <a16:creationId xmlns:a16="http://schemas.microsoft.com/office/drawing/2014/main" id="{C9D7C112-E13D-F51F-A9D2-991E0F5950DB}"/>
              </a:ext>
            </a:extLst>
          </p:cNvPr>
          <p:cNvSpPr/>
          <p:nvPr userDrawn="1"/>
        </p:nvSpPr>
        <p:spPr>
          <a:xfrm rot="16200000">
            <a:off x="310926" y="428220"/>
            <a:ext cx="674433" cy="674433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A8E63C-2B04-226E-4A9D-56968FEE30E6}"/>
              </a:ext>
            </a:extLst>
          </p:cNvPr>
          <p:cNvSpPr/>
          <p:nvPr userDrawn="1"/>
        </p:nvSpPr>
        <p:spPr>
          <a:xfrm>
            <a:off x="398907" y="514643"/>
            <a:ext cx="501586" cy="501586"/>
          </a:xfrm>
          <a:prstGeom prst="ellipse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4D628912-E256-54CC-C36D-CF7FB7E153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10C313E2-6456-72BD-C5C0-1A658B6C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77" y="450930"/>
            <a:ext cx="10515600" cy="662782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rgbClr val="5219A1"/>
                </a:solidFill>
                <a:latin typeface="Axiforma Semi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588927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37E082-0F8B-36D1-D4ED-6350430C165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9" r:id="rId4"/>
  </p:sldLayoutIdLst>
  <p:transition spd="med"/>
  <p:txStyles>
    <p:titleStyle>
      <a:lvl1pPr marL="0" marR="0" indent="0" algn="l" defTabSz="914400" rtl="0" eaLnBrk="1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7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37E082-0F8B-36D1-D4ED-6350430C165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352558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ransition spd="med"/>
  <p:txStyles>
    <p:titleStyle>
      <a:lvl1pPr marL="0" marR="0" indent="0" algn="l" defTabSz="914400" rtl="0" eaLnBrk="1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carlos.a.melo@saber.com.br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19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tângulo 3"/>
          <p:cNvSpPr/>
          <p:nvPr/>
        </p:nvSpPr>
        <p:spPr>
          <a:xfrm>
            <a:off x="-12189" y="-6857"/>
            <a:ext cx="4255254" cy="6871715"/>
          </a:xfrm>
          <a:prstGeom prst="rect">
            <a:avLst/>
          </a:prstGeom>
          <a:solidFill>
            <a:srgbClr val="FFAD0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Espaço Reservado para Texto 5">
            <a:extLst>
              <a:ext uri="{FF2B5EF4-FFF2-40B4-BE49-F238E27FC236}">
                <a16:creationId xmlns:a16="http://schemas.microsoft.com/office/drawing/2014/main" id="{BF42EA2B-39C1-768E-4A32-51E9AE746AFF}"/>
              </a:ext>
            </a:extLst>
          </p:cNvPr>
          <p:cNvSpPr txBox="1"/>
          <p:nvPr/>
        </p:nvSpPr>
        <p:spPr>
          <a:xfrm>
            <a:off x="8495480" y="3933410"/>
            <a:ext cx="2732154" cy="138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lnSpc>
                <a:spcPct val="60000"/>
              </a:lnSpc>
              <a:defRPr sz="1600">
                <a:solidFill>
                  <a:srgbClr val="D8DBDD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/>
              <a:t>CRM &amp; </a:t>
            </a:r>
            <a:r>
              <a:rPr lang="pt-BR" dirty="0" err="1"/>
              <a:t>Datasystem</a:t>
            </a:r>
            <a:r>
              <a:rPr lang="pt-BR" dirty="0"/>
              <a:t> 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pPr>
              <a:lnSpc>
                <a:spcPct val="100000"/>
              </a:lnSpc>
            </a:pPr>
            <a:endParaRPr lang="pt-BR" dirty="0"/>
          </a:p>
          <a:p>
            <a:br>
              <a:rPr lang="pt-BR" dirty="0"/>
            </a:br>
            <a:endParaRPr lang="pt-BR" dirty="0"/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9550DC58-8837-7608-4244-2A109B128788}"/>
              </a:ext>
            </a:extLst>
          </p:cNvPr>
          <p:cNvSpPr txBox="1"/>
          <p:nvPr/>
        </p:nvSpPr>
        <p:spPr>
          <a:xfrm>
            <a:off x="8457379" y="2880259"/>
            <a:ext cx="3227833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defTabSz="457200">
              <a:lnSpc>
                <a:spcPct val="60000"/>
              </a:lnSpc>
              <a:defRPr sz="3000">
                <a:solidFill>
                  <a:srgbClr val="D8DBDD"/>
                </a:solidFill>
                <a:latin typeface="Axiforma-SemiBold"/>
                <a:ea typeface="Axiforma-SemiBold"/>
                <a:cs typeface="Axiforma-SemiBold"/>
                <a:sym typeface="Axiforma-SemiBold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/>
              <a:t>Funil Completo  </a:t>
            </a:r>
          </a:p>
          <a:p>
            <a:pPr>
              <a:lnSpc>
                <a:spcPct val="100000"/>
              </a:lnSpc>
            </a:pPr>
            <a:r>
              <a:rPr lang="pt-BR" dirty="0" err="1"/>
              <a:t>Red</a:t>
            </a:r>
            <a:r>
              <a:rPr lang="pt-BR" dirty="0"/>
              <a:t> </a:t>
            </a:r>
            <a:r>
              <a:rPr lang="pt-BR" dirty="0" err="1"/>
              <a:t>Balloon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" name="Imagem 9" descr="Imagem 9">
            <a:extLst>
              <a:ext uri="{FF2B5EF4-FFF2-40B4-BE49-F238E27FC236}">
                <a16:creationId xmlns:a16="http://schemas.microsoft.com/office/drawing/2014/main" id="{28EA5D6D-0513-DC7D-A147-0DFF5C539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44" y="461505"/>
            <a:ext cx="1919392" cy="639798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CaixaDeTexto 8">
            <a:extLst>
              <a:ext uri="{FF2B5EF4-FFF2-40B4-BE49-F238E27FC236}">
                <a16:creationId xmlns:a16="http://schemas.microsoft.com/office/drawing/2014/main" id="{B38CDABD-4331-7D1C-B044-43698560DDAA}"/>
              </a:ext>
            </a:extLst>
          </p:cNvPr>
          <p:cNvSpPr txBox="1"/>
          <p:nvPr/>
        </p:nvSpPr>
        <p:spPr>
          <a:xfrm>
            <a:off x="281692" y="6429689"/>
            <a:ext cx="94510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8137F0"/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r>
              <a:t>00/00/25</a:t>
            </a:r>
          </a:p>
        </p:txBody>
      </p:sp>
      <p:pic>
        <p:nvPicPr>
          <p:cNvPr id="15" name="Imagem 14" descr="Pessoa posando para foto&#10;&#10;O conteúdo gerado por IA pode estar incorreto.">
            <a:extLst>
              <a:ext uri="{FF2B5EF4-FFF2-40B4-BE49-F238E27FC236}">
                <a16:creationId xmlns:a16="http://schemas.microsoft.com/office/drawing/2014/main" id="{D6322534-E7CF-2538-C026-C84FD01DA6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29" r="26931" b="6307"/>
          <a:stretch>
            <a:fillRect/>
          </a:stretch>
        </p:blipFill>
        <p:spPr>
          <a:xfrm>
            <a:off x="4206281" y="2612"/>
            <a:ext cx="3450794" cy="6855387"/>
          </a:xfrm>
          <a:custGeom>
            <a:avLst/>
            <a:gdLst>
              <a:gd name="csX0" fmla="*/ 21794 w 3450794"/>
              <a:gd name="csY0" fmla="*/ 0 h 6855387"/>
              <a:gd name="csX1" fmla="*/ 100177 w 3450794"/>
              <a:gd name="csY1" fmla="*/ 0 h 6855387"/>
              <a:gd name="csX2" fmla="*/ 250778 w 3450794"/>
              <a:gd name="csY2" fmla="*/ 5019 h 6855387"/>
              <a:gd name="csX3" fmla="*/ 2995021 w 3450794"/>
              <a:gd name="csY3" fmla="*/ 1718183 h 6855387"/>
              <a:gd name="csX4" fmla="*/ 2984104 w 3450794"/>
              <a:gd name="csY4" fmla="*/ 5153455 h 6855387"/>
              <a:gd name="csX5" fmla="*/ 0 w 3450794"/>
              <a:gd name="csY5" fmla="*/ 6855318 h 6855387"/>
              <a:gd name="csX6" fmla="*/ 21794 w 3450794"/>
              <a:gd name="csY6" fmla="*/ 3426388 h 6855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50794" h="6855387">
                <a:moveTo>
                  <a:pt x="21794" y="0"/>
                </a:moveTo>
                <a:lnTo>
                  <a:pt x="100177" y="0"/>
                </a:lnTo>
                <a:lnTo>
                  <a:pt x="250778" y="5019"/>
                </a:lnTo>
                <a:cubicBezTo>
                  <a:pt x="1389162" y="81022"/>
                  <a:pt x="2421669" y="720231"/>
                  <a:pt x="2995021" y="1718183"/>
                </a:cubicBezTo>
                <a:cubicBezTo>
                  <a:pt x="3606597" y="2782665"/>
                  <a:pt x="3602433" y="4092881"/>
                  <a:pt x="2984104" y="5153455"/>
                </a:cubicBezTo>
                <a:cubicBezTo>
                  <a:pt x="2365775" y="6214029"/>
                  <a:pt x="1227635" y="6863121"/>
                  <a:pt x="0" y="6855318"/>
                </a:cubicBezTo>
                <a:lnTo>
                  <a:pt x="21794" y="3426388"/>
                </a:lnTo>
                <a:close/>
              </a:path>
            </a:pathLst>
          </a:cu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AAD02A46-D1E9-A008-E51E-9B90F9AD6637}"/>
              </a:ext>
            </a:extLst>
          </p:cNvPr>
          <p:cNvSpPr txBox="1"/>
          <p:nvPr/>
        </p:nvSpPr>
        <p:spPr>
          <a:xfrm>
            <a:off x="9233940" y="6262665"/>
            <a:ext cx="292256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pt-BR" sz="1200" i="1" dirty="0">
                <a:solidFill>
                  <a:schemeClr val="bg1"/>
                </a:solidFill>
                <a:latin typeface="Axiforma-Light"/>
              </a:rPr>
              <a:t>RVO – </a:t>
            </a:r>
            <a:r>
              <a:rPr lang="pt-BR" sz="1200" i="1" dirty="0" err="1">
                <a:solidFill>
                  <a:schemeClr val="bg1"/>
                </a:solidFill>
                <a:latin typeface="Axiforma-Light"/>
              </a:rPr>
              <a:t>Revenue</a:t>
            </a:r>
            <a:r>
              <a:rPr lang="pt-BR" sz="1200" i="1" dirty="0">
                <a:solidFill>
                  <a:schemeClr val="bg1"/>
                </a:solidFill>
                <a:latin typeface="Axiforma-Light"/>
              </a:rPr>
              <a:t> </a:t>
            </a:r>
            <a:r>
              <a:rPr lang="pt-BR" sz="1200" i="1" dirty="0" err="1">
                <a:solidFill>
                  <a:schemeClr val="bg1"/>
                </a:solidFill>
                <a:latin typeface="Axiforma-Light"/>
              </a:rPr>
              <a:t>Strategy</a:t>
            </a:r>
            <a:r>
              <a:rPr lang="pt-BR" sz="1200" i="1" dirty="0">
                <a:solidFill>
                  <a:schemeClr val="bg1"/>
                </a:solidFill>
                <a:latin typeface="Axiforma-Light"/>
              </a:rPr>
              <a:t> Team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BAA1F634-F228-CCFD-4B11-584808DD49F3}"/>
              </a:ext>
            </a:extLst>
          </p:cNvPr>
          <p:cNvSpPr/>
          <p:nvPr/>
        </p:nvSpPr>
        <p:spPr>
          <a:xfrm rot="16200000">
            <a:off x="2667000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Retângulo 5">
            <a:extLst>
              <a:ext uri="{FF2B5EF4-FFF2-40B4-BE49-F238E27FC236}">
                <a16:creationId xmlns:a16="http://schemas.microsoft.com/office/drawing/2014/main" id="{430F5C0F-52BD-53EF-06A4-48B1A9B1FA2B}"/>
              </a:ext>
            </a:extLst>
          </p:cNvPr>
          <p:cNvSpPr/>
          <p:nvPr/>
        </p:nvSpPr>
        <p:spPr>
          <a:xfrm>
            <a:off x="-11875" y="1"/>
            <a:ext cx="6107875" cy="6873078"/>
          </a:xfrm>
          <a:prstGeom prst="rect">
            <a:avLst/>
          </a:prstGeom>
          <a:solidFill>
            <a:srgbClr val="FFAD0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Pie 4">
            <a:extLst>
              <a:ext uri="{FF2B5EF4-FFF2-40B4-BE49-F238E27FC236}">
                <a16:creationId xmlns:a16="http://schemas.microsoft.com/office/drawing/2014/main" id="{DA8B0640-37B1-93A3-7488-82FA8F1B8EC8}"/>
              </a:ext>
            </a:extLst>
          </p:cNvPr>
          <p:cNvSpPr/>
          <p:nvPr/>
        </p:nvSpPr>
        <p:spPr>
          <a:xfrm rot="5400000">
            <a:off x="2667000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F39C75C1-9EE0-BD83-6F47-B105632E9BE4}"/>
              </a:ext>
            </a:extLst>
          </p:cNvPr>
          <p:cNvSpPr txBox="1"/>
          <p:nvPr/>
        </p:nvSpPr>
        <p:spPr>
          <a:xfrm>
            <a:off x="3344335" y="3099811"/>
            <a:ext cx="2331712" cy="601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t>AGENDA</a:t>
            </a:r>
          </a:p>
        </p:txBody>
      </p:sp>
      <p:pic>
        <p:nvPicPr>
          <p:cNvPr id="8" name="Imagem" descr="Imagem">
            <a:extLst>
              <a:ext uri="{FF2B5EF4-FFF2-40B4-BE49-F238E27FC236}">
                <a16:creationId xmlns:a16="http://schemas.microsoft.com/office/drawing/2014/main" id="{8D206F2B-0F35-DA3B-43BF-1B699FCCB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79" y="346545"/>
            <a:ext cx="1287931" cy="45685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F5D3E42D-D45C-D6E5-59C5-6928B24FFBF4}"/>
              </a:ext>
            </a:extLst>
          </p:cNvPr>
          <p:cNvSpPr txBox="1"/>
          <p:nvPr/>
        </p:nvSpPr>
        <p:spPr>
          <a:xfrm>
            <a:off x="6353382" y="1439632"/>
            <a:ext cx="2410549" cy="5386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>
                <a:sym typeface="Axiforma-Light"/>
              </a:rPr>
              <a:t>Conceituação: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sz="1400" i="1" dirty="0">
                <a:sym typeface="Axiforma-Light"/>
              </a:rPr>
              <a:t>Jornada comercial;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sz="1400" i="1" dirty="0">
                <a:sym typeface="Axiforma-Light"/>
              </a:rPr>
              <a:t>Sobre o </a:t>
            </a:r>
            <a:r>
              <a:rPr lang="pt-BR" sz="1400" i="1" dirty="0" err="1">
                <a:sym typeface="Axiforma-Light"/>
              </a:rPr>
              <a:t>Hubspot</a:t>
            </a:r>
            <a:r>
              <a:rPr lang="pt-BR" sz="1400" i="1" dirty="0">
                <a:sym typeface="Axiforma-Light"/>
              </a:rPr>
              <a:t>;</a:t>
            </a:r>
            <a:endParaRPr lang="pt-BR" sz="1400" i="1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sz="1400" i="1" dirty="0"/>
              <a:t>Quem é a Secretária?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sz="1400" i="1" dirty="0"/>
              <a:t>Origens de tráfego.</a:t>
            </a:r>
            <a:br>
              <a:rPr lang="pt-BR" dirty="0"/>
            </a:b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Jornada do Lead no </a:t>
            </a:r>
            <a:r>
              <a:rPr lang="pt-BR" dirty="0" err="1"/>
              <a:t>HubSpot</a:t>
            </a: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Status atual</a:t>
            </a:r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Corte por recência</a:t>
            </a:r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Projeções</a:t>
            </a:r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Próximos passos e questões</a:t>
            </a:r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  <a:p>
            <a:pPr marL="240631" indent="-240631">
              <a:buSzPct val="100000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  <a:p>
            <a:pPr marL="342900" indent="-342900">
              <a:buSzPct val="100000"/>
              <a:buFont typeface="+mj-lt"/>
              <a:buAutoNum type="arabicPeriod"/>
              <a:defRPr>
                <a:solidFill>
                  <a:srgbClr val="FFFFFF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endParaRPr lang="pt-BR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F0F5-F546-F8C3-9D8F-1E5BEA68D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5773E-3CE4-DF28-EDE0-A3EFA019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77" y="450930"/>
            <a:ext cx="5494273" cy="662782"/>
          </a:xfrm>
        </p:spPr>
        <p:txBody>
          <a:bodyPr/>
          <a:lstStyle/>
          <a:p>
            <a:r>
              <a:rPr lang="pt-BR" dirty="0"/>
              <a:t>Fluxo Geral </a:t>
            </a:r>
            <a:r>
              <a:rPr lang="pt-BR" dirty="0" err="1"/>
              <a:t>Red</a:t>
            </a:r>
            <a:r>
              <a:rPr lang="pt-BR" dirty="0"/>
              <a:t> </a:t>
            </a:r>
            <a:r>
              <a:rPr lang="pt-BR" dirty="0" err="1"/>
              <a:t>Balloon</a:t>
            </a:r>
            <a:br>
              <a:rPr lang="pt-BR" dirty="0"/>
            </a:br>
            <a:endParaRPr lang="en-BR" sz="2400" b="0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CA6AF99-72A3-9496-7C0B-C61BC08A6652}"/>
              </a:ext>
            </a:extLst>
          </p:cNvPr>
          <p:cNvSpPr/>
          <p:nvPr/>
        </p:nvSpPr>
        <p:spPr>
          <a:xfrm>
            <a:off x="215550" y="2456979"/>
            <a:ext cx="1365723" cy="432789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1. ATRAÇÃO:</a:t>
            </a:r>
            <a:endParaRPr lang="pt-BR" sz="1400" b="1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B0704C8-49B9-56CE-2180-650DAE5C252F}"/>
              </a:ext>
            </a:extLst>
          </p:cNvPr>
          <p:cNvSpPr/>
          <p:nvPr/>
        </p:nvSpPr>
        <p:spPr>
          <a:xfrm>
            <a:off x="2236185" y="2456979"/>
            <a:ext cx="1365723" cy="432789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2. C0NVERSÃO:</a:t>
            </a:r>
            <a:endParaRPr lang="pt-BR" sz="1400" b="1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670ADD8-6A5C-D9BF-B3C1-936F8A7BF8B8}"/>
              </a:ext>
            </a:extLst>
          </p:cNvPr>
          <p:cNvSpPr/>
          <p:nvPr/>
        </p:nvSpPr>
        <p:spPr>
          <a:xfrm>
            <a:off x="4256824" y="2456979"/>
            <a:ext cx="1365723" cy="432789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3. REGISTRO:</a:t>
            </a:r>
            <a:endParaRPr lang="pt-BR" sz="1400" b="1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76B81DD-AACD-CB9F-9911-AF9414D2E271}"/>
              </a:ext>
            </a:extLst>
          </p:cNvPr>
          <p:cNvSpPr/>
          <p:nvPr/>
        </p:nvSpPr>
        <p:spPr>
          <a:xfrm>
            <a:off x="6277461" y="2456979"/>
            <a:ext cx="1365723" cy="432789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4. COMERCIAL:</a:t>
            </a:r>
            <a:endParaRPr lang="pt-BR" sz="1400" b="1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859733D-DDB9-12D9-EEAB-90FA1F8B8D84}"/>
              </a:ext>
            </a:extLst>
          </p:cNvPr>
          <p:cNvSpPr/>
          <p:nvPr/>
        </p:nvSpPr>
        <p:spPr>
          <a:xfrm>
            <a:off x="8298096" y="2456979"/>
            <a:ext cx="1511720" cy="432789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5. EFETIVAÇÃO:</a:t>
            </a:r>
            <a:endParaRPr lang="pt-BR" sz="1400" b="1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138" name="Retângulo: Cantos Arredondados 137">
            <a:extLst>
              <a:ext uri="{FF2B5EF4-FFF2-40B4-BE49-F238E27FC236}">
                <a16:creationId xmlns:a16="http://schemas.microsoft.com/office/drawing/2014/main" id="{AF0863EB-FF26-B275-E571-FBFE3DBF5CA3}"/>
              </a:ext>
            </a:extLst>
          </p:cNvPr>
          <p:cNvSpPr/>
          <p:nvPr/>
        </p:nvSpPr>
        <p:spPr>
          <a:xfrm>
            <a:off x="10461803" y="2456979"/>
            <a:ext cx="1511720" cy="432789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6. FIDELIZAÇÃO:</a:t>
            </a:r>
            <a:endParaRPr lang="pt-BR" sz="1400" b="1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139" name="Retângulo: Cantos Arredondados 138">
            <a:extLst>
              <a:ext uri="{FF2B5EF4-FFF2-40B4-BE49-F238E27FC236}">
                <a16:creationId xmlns:a16="http://schemas.microsoft.com/office/drawing/2014/main" id="{CF7ECD67-8677-D2DD-FF98-025FE9AE69CB}"/>
              </a:ext>
            </a:extLst>
          </p:cNvPr>
          <p:cNvSpPr/>
          <p:nvPr/>
        </p:nvSpPr>
        <p:spPr>
          <a:xfrm>
            <a:off x="97247" y="2937399"/>
            <a:ext cx="2020637" cy="1940955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200" b="1" dirty="0"/>
              <a:t>Campanhas de marketing geram interesse:</a:t>
            </a:r>
          </a:p>
          <a:p>
            <a:endParaRPr lang="pt-BR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Anúncios Meta (Facebook/Instagram)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Google </a:t>
            </a:r>
            <a:r>
              <a:rPr lang="pt-BR" sz="1200" dirty="0" err="1"/>
              <a:t>Ads</a:t>
            </a:r>
            <a:endParaRPr lang="pt-B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Ações presenciais (eventos, feiras)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Indicações de alunos</a:t>
            </a:r>
          </a:p>
        </p:txBody>
      </p:sp>
      <p:sp>
        <p:nvSpPr>
          <p:cNvPr id="148" name="Retângulo: Cantos Arredondados 147">
            <a:extLst>
              <a:ext uri="{FF2B5EF4-FFF2-40B4-BE49-F238E27FC236}">
                <a16:creationId xmlns:a16="http://schemas.microsoft.com/office/drawing/2014/main" id="{8AF71668-EAA0-0CBC-25CF-9CF10290912A}"/>
              </a:ext>
            </a:extLst>
          </p:cNvPr>
          <p:cNvSpPr/>
          <p:nvPr/>
        </p:nvSpPr>
        <p:spPr>
          <a:xfrm>
            <a:off x="2236185" y="2937399"/>
            <a:ext cx="2020637" cy="1328021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200" b="1" dirty="0"/>
              <a:t>Lead demonstra interesse e deixa contato:</a:t>
            </a:r>
          </a:p>
          <a:p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Formulário no 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Ligação para unidade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err="1"/>
              <a:t>Walk-in</a:t>
            </a:r>
            <a:r>
              <a:rPr lang="pt-BR" sz="1200" dirty="0"/>
              <a:t> (entra na escola)</a:t>
            </a:r>
          </a:p>
        </p:txBody>
      </p:sp>
      <p:sp>
        <p:nvSpPr>
          <p:cNvPr id="149" name="Retângulo: Cantos Arredondados 148">
            <a:extLst>
              <a:ext uri="{FF2B5EF4-FFF2-40B4-BE49-F238E27FC236}">
                <a16:creationId xmlns:a16="http://schemas.microsoft.com/office/drawing/2014/main" id="{94D766FF-1834-7717-BD94-66FD1C810F96}"/>
              </a:ext>
            </a:extLst>
          </p:cNvPr>
          <p:cNvSpPr/>
          <p:nvPr/>
        </p:nvSpPr>
        <p:spPr>
          <a:xfrm>
            <a:off x="4256824" y="2937399"/>
            <a:ext cx="2020637" cy="1328021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200" b="1" dirty="0"/>
              <a:t>Secretária cadastra no </a:t>
            </a:r>
            <a:r>
              <a:rPr lang="pt-BR" sz="1200" b="1" dirty="0" err="1"/>
              <a:t>HubSpot</a:t>
            </a:r>
            <a:r>
              <a:rPr lang="pt-BR" sz="1200" b="1" dirty="0"/>
              <a:t> (CRM):</a:t>
            </a:r>
          </a:p>
          <a:p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Dados do lead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Origem/canal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Unidade desejada</a:t>
            </a:r>
          </a:p>
        </p:txBody>
      </p:sp>
      <p:sp>
        <p:nvSpPr>
          <p:cNvPr id="150" name="Retângulo: Cantos Arredondados 149">
            <a:extLst>
              <a:ext uri="{FF2B5EF4-FFF2-40B4-BE49-F238E27FC236}">
                <a16:creationId xmlns:a16="http://schemas.microsoft.com/office/drawing/2014/main" id="{3E9E115B-A47A-E67D-28F2-45E24767CA1D}"/>
              </a:ext>
            </a:extLst>
          </p:cNvPr>
          <p:cNvSpPr/>
          <p:nvPr/>
        </p:nvSpPr>
        <p:spPr>
          <a:xfrm>
            <a:off x="6277461" y="2937399"/>
            <a:ext cx="2020637" cy="1736643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200" b="1" dirty="0"/>
              <a:t>Secretária trabalha o lead</a:t>
            </a:r>
          </a:p>
          <a:p>
            <a:r>
              <a:rPr lang="pt-BR" sz="1200" b="1" dirty="0"/>
              <a:t>Contato (ligação, WhatsApp)</a:t>
            </a:r>
          </a:p>
          <a:p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Qualificação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Agendamento de visita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Apresentação da escola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Proposta</a:t>
            </a:r>
          </a:p>
        </p:txBody>
      </p:sp>
      <p:sp>
        <p:nvSpPr>
          <p:cNvPr id="151" name="Retângulo: Cantos Arredondados 150">
            <a:extLst>
              <a:ext uri="{FF2B5EF4-FFF2-40B4-BE49-F238E27FC236}">
                <a16:creationId xmlns:a16="http://schemas.microsoft.com/office/drawing/2014/main" id="{2C70E327-E677-7AF7-D468-E63893690A14}"/>
              </a:ext>
            </a:extLst>
          </p:cNvPr>
          <p:cNvSpPr/>
          <p:nvPr/>
        </p:nvSpPr>
        <p:spPr>
          <a:xfrm>
            <a:off x="8298096" y="2937399"/>
            <a:ext cx="2020637" cy="1328021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200" b="1" dirty="0"/>
              <a:t>Matrícula no </a:t>
            </a:r>
            <a:r>
              <a:rPr lang="pt-BR" sz="1200" b="1" dirty="0" err="1"/>
              <a:t>Phidelis</a:t>
            </a:r>
            <a:endParaRPr lang="pt-BR" sz="1200" b="1" dirty="0"/>
          </a:p>
          <a:p>
            <a:r>
              <a:rPr lang="pt-BR" sz="1200" b="1" dirty="0"/>
              <a:t>Contrato assinado</a:t>
            </a:r>
          </a:p>
          <a:p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Pagamento configurado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Aluno ativo no sistema acadêmico</a:t>
            </a:r>
          </a:p>
        </p:txBody>
      </p:sp>
      <p:sp>
        <p:nvSpPr>
          <p:cNvPr id="152" name="Retângulo: Cantos Arredondados 151">
            <a:extLst>
              <a:ext uri="{FF2B5EF4-FFF2-40B4-BE49-F238E27FC236}">
                <a16:creationId xmlns:a16="http://schemas.microsoft.com/office/drawing/2014/main" id="{47ABF70E-9B1D-10B1-4CDB-4C5DEFD0ECE3}"/>
              </a:ext>
            </a:extLst>
          </p:cNvPr>
          <p:cNvSpPr/>
          <p:nvPr/>
        </p:nvSpPr>
        <p:spPr>
          <a:xfrm>
            <a:off x="10461803" y="2889768"/>
            <a:ext cx="1632950" cy="1532332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200" b="1" dirty="0"/>
              <a:t>Retenção e relacionamento</a:t>
            </a:r>
          </a:p>
          <a:p>
            <a:r>
              <a:rPr lang="pt-BR" sz="1200" b="1" dirty="0"/>
              <a:t>Acompanhamento </a:t>
            </a:r>
          </a:p>
          <a:p>
            <a:r>
              <a:rPr lang="pt-BR" sz="1200" b="1" dirty="0"/>
              <a:t>Pedagógico:</a:t>
            </a:r>
          </a:p>
          <a:p>
            <a:endParaRPr lang="pt-B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Rematrícula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Indicações</a:t>
            </a:r>
          </a:p>
        </p:txBody>
      </p: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A2B71EBF-C9CD-4D13-9512-013050E6F583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1581273" y="2673374"/>
            <a:ext cx="654912" cy="0"/>
          </a:xfrm>
          <a:prstGeom prst="straightConnector1">
            <a:avLst/>
          </a:prstGeom>
          <a:noFill/>
          <a:ln w="38100" cap="flat">
            <a:solidFill>
              <a:srgbClr val="5219A1"/>
            </a:solidFill>
            <a:prstDash val="solid"/>
            <a:miter lim="800000"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6" name="Conector de Seta Reta 155">
            <a:extLst>
              <a:ext uri="{FF2B5EF4-FFF2-40B4-BE49-F238E27FC236}">
                <a16:creationId xmlns:a16="http://schemas.microsoft.com/office/drawing/2014/main" id="{632911AB-0561-3AD2-7FFF-F92397742436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601908" y="2673374"/>
            <a:ext cx="654916" cy="0"/>
          </a:xfrm>
          <a:prstGeom prst="straightConnector1">
            <a:avLst/>
          </a:prstGeom>
          <a:noFill/>
          <a:ln w="38100" cap="flat">
            <a:solidFill>
              <a:srgbClr val="5219A1"/>
            </a:solidFill>
            <a:prstDash val="solid"/>
            <a:miter lim="800000"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de Seta Reta 157">
            <a:extLst>
              <a:ext uri="{FF2B5EF4-FFF2-40B4-BE49-F238E27FC236}">
                <a16:creationId xmlns:a16="http://schemas.microsoft.com/office/drawing/2014/main" id="{F69BF189-F739-0B45-A39E-68826BEADD89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622547" y="2673374"/>
            <a:ext cx="654914" cy="0"/>
          </a:xfrm>
          <a:prstGeom prst="straightConnector1">
            <a:avLst/>
          </a:prstGeom>
          <a:noFill/>
          <a:ln w="38100" cap="flat">
            <a:solidFill>
              <a:srgbClr val="5219A1"/>
            </a:solidFill>
            <a:prstDash val="solid"/>
            <a:miter lim="800000"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0B7DA9C8-28FA-D287-5EB8-5A19F5446E4F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7643184" y="2673374"/>
            <a:ext cx="654912" cy="0"/>
          </a:xfrm>
          <a:prstGeom prst="straightConnector1">
            <a:avLst/>
          </a:prstGeom>
          <a:noFill/>
          <a:ln w="38100" cap="flat">
            <a:solidFill>
              <a:srgbClr val="5219A1"/>
            </a:solidFill>
            <a:prstDash val="solid"/>
            <a:miter lim="800000"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de Seta Reta 161">
            <a:extLst>
              <a:ext uri="{FF2B5EF4-FFF2-40B4-BE49-F238E27FC236}">
                <a16:creationId xmlns:a16="http://schemas.microsoft.com/office/drawing/2014/main" id="{09074B36-44A0-10D0-2B1E-78BC090787E7}"/>
              </a:ext>
            </a:extLst>
          </p:cNvPr>
          <p:cNvCxnSpPr>
            <a:cxnSpLocks/>
            <a:stCxn id="19" idx="3"/>
            <a:endCxn id="138" idx="1"/>
          </p:cNvCxnSpPr>
          <p:nvPr/>
        </p:nvCxnSpPr>
        <p:spPr>
          <a:xfrm>
            <a:off x="9809816" y="2673374"/>
            <a:ext cx="651987" cy="0"/>
          </a:xfrm>
          <a:prstGeom prst="straightConnector1">
            <a:avLst/>
          </a:prstGeom>
          <a:noFill/>
          <a:ln w="38100" cap="flat">
            <a:solidFill>
              <a:srgbClr val="5219A1"/>
            </a:solidFill>
            <a:prstDash val="solid"/>
            <a:miter lim="800000"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6" name="Retângulo: Cantos Arredondados 165">
            <a:extLst>
              <a:ext uri="{FF2B5EF4-FFF2-40B4-BE49-F238E27FC236}">
                <a16:creationId xmlns:a16="http://schemas.microsoft.com/office/drawing/2014/main" id="{A6CEB779-1DB1-C173-9CCF-987CD94F876C}"/>
              </a:ext>
            </a:extLst>
          </p:cNvPr>
          <p:cNvSpPr/>
          <p:nvPr/>
        </p:nvSpPr>
        <p:spPr>
          <a:xfrm>
            <a:off x="97247" y="1858780"/>
            <a:ext cx="11997506" cy="4137286"/>
          </a:xfrm>
          <a:prstGeom prst="roundRect">
            <a:avLst/>
          </a:prstGeom>
          <a:noFill/>
          <a:ln w="19050" cap="flat">
            <a:solidFill>
              <a:srgbClr val="FFAD0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1E979F5A-4C04-3FFF-36DB-602AB5C249C7}"/>
              </a:ext>
            </a:extLst>
          </p:cNvPr>
          <p:cNvSpPr txBox="1"/>
          <p:nvPr/>
        </p:nvSpPr>
        <p:spPr>
          <a:xfrm>
            <a:off x="910982" y="5453968"/>
            <a:ext cx="9550821" cy="861774"/>
          </a:xfrm>
          <a:prstGeom prst="rect">
            <a:avLst/>
          </a:prstGeom>
          <a:solidFill>
            <a:srgbClr val="D7DBDD"/>
          </a:solidFill>
          <a:ln w="12700" cap="flat">
            <a:solidFill>
              <a:srgbClr val="FFAD0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RESUMO:</a:t>
            </a:r>
          </a:p>
          <a:p>
            <a:pPr>
              <a:buNone/>
            </a:pPr>
            <a:r>
              <a:rPr lang="pt-BR" sz="1600" dirty="0"/>
              <a:t>Marketing (atrai) → Lead (chega) → </a:t>
            </a:r>
            <a:r>
              <a:rPr lang="pt-BR" sz="1600" dirty="0" err="1"/>
              <a:t>HubSpot</a:t>
            </a:r>
            <a:r>
              <a:rPr lang="pt-BR" sz="1600" dirty="0"/>
              <a:t> (registra) → Secretária (vende) → </a:t>
            </a:r>
            <a:r>
              <a:rPr lang="pt-BR" sz="1600" dirty="0" err="1"/>
              <a:t>Phidelis</a:t>
            </a:r>
            <a:r>
              <a:rPr lang="pt-BR" sz="1600" dirty="0"/>
              <a:t> (matricula) → Retenção (fideliza)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F012A27C-FEE8-4B6F-B414-B992940BE8B3}"/>
              </a:ext>
            </a:extLst>
          </p:cNvPr>
          <p:cNvSpPr/>
          <p:nvPr/>
        </p:nvSpPr>
        <p:spPr>
          <a:xfrm>
            <a:off x="4970298" y="1633869"/>
            <a:ext cx="2251404" cy="51934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xiforma-Bold"/>
              </a:rPr>
              <a:t>Jornada Comercial:</a:t>
            </a:r>
            <a:endParaRPr lang="pt-BR" dirty="0">
              <a:solidFill>
                <a:schemeClr val="bg2">
                  <a:lumMod val="75000"/>
                </a:schemeClr>
              </a:solidFill>
              <a:latin typeface="Axiforma-Bold"/>
            </a:endParaRPr>
          </a:p>
        </p:txBody>
      </p:sp>
    </p:spTree>
    <p:extLst>
      <p:ext uri="{BB962C8B-B14F-4D97-AF65-F5344CB8AC3E}">
        <p14:creationId xmlns:p14="http://schemas.microsoft.com/office/powerpoint/2010/main" val="35011897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3BFE-7748-50F6-5A5D-51F88584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DAE596-25E7-5E58-ECAD-7A262E992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HubSpot</a:t>
            </a:r>
            <a:r>
              <a:rPr lang="pt-BR" dirty="0"/>
              <a:t>?</a:t>
            </a:r>
            <a:br>
              <a:rPr lang="pt-BR" dirty="0"/>
            </a:br>
            <a:r>
              <a:rPr lang="pt-BR" sz="2400" b="0" dirty="0"/>
              <a:t>O sistema onde registramos todos os leads e acompanhamos a jornada comercial</a:t>
            </a:r>
            <a:endParaRPr lang="en-BR" sz="2400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E361ED31-32EC-D050-7BEA-3015B3080669}"/>
              </a:ext>
            </a:extLst>
          </p:cNvPr>
          <p:cNvGrpSpPr/>
          <p:nvPr/>
        </p:nvGrpSpPr>
        <p:grpSpPr>
          <a:xfrm>
            <a:off x="4986981" y="1882297"/>
            <a:ext cx="1791135" cy="767312"/>
            <a:chOff x="4497049" y="1930918"/>
            <a:chExt cx="2263515" cy="969677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E63DC7C-CC57-A501-828F-D23F6060FAA4}"/>
                </a:ext>
              </a:extLst>
            </p:cNvPr>
            <p:cNvSpPr/>
            <p:nvPr/>
          </p:nvSpPr>
          <p:spPr>
            <a:xfrm>
              <a:off x="4497049" y="1930918"/>
              <a:ext cx="2263515" cy="969677"/>
            </a:xfrm>
            <a:prstGeom prst="roundRect">
              <a:avLst/>
            </a:prstGeom>
            <a:solidFill>
              <a:schemeClr val="bg1"/>
            </a:solidFill>
            <a:ln w="38100" cap="flat">
              <a:solidFill>
                <a:srgbClr val="FFAD0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pic>
          <p:nvPicPr>
            <p:cNvPr id="4102" name="Picture 6" descr="HubSpot Logo: valor, história, PNG">
              <a:extLst>
                <a:ext uri="{FF2B5EF4-FFF2-40B4-BE49-F238E27FC236}">
                  <a16:creationId xmlns:a16="http://schemas.microsoft.com/office/drawing/2014/main" id="{39D72F9D-8856-4EA7-A8E9-4600433E1D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1882" y="1930918"/>
              <a:ext cx="1723870" cy="969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8F158D32-F6F7-AA10-3101-AFF83FBDA573}"/>
              </a:ext>
            </a:extLst>
          </p:cNvPr>
          <p:cNvGrpSpPr/>
          <p:nvPr/>
        </p:nvGrpSpPr>
        <p:grpSpPr>
          <a:xfrm>
            <a:off x="546051" y="2871053"/>
            <a:ext cx="10807908" cy="1094282"/>
            <a:chOff x="629587" y="2878111"/>
            <a:chExt cx="10807908" cy="1094282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8BDD91AD-EE77-AF73-66F5-B66106E9B60B}"/>
                </a:ext>
              </a:extLst>
            </p:cNvPr>
            <p:cNvSpPr/>
            <p:nvPr/>
          </p:nvSpPr>
          <p:spPr>
            <a:xfrm>
              <a:off x="629587" y="2878111"/>
              <a:ext cx="10807908" cy="1094282"/>
            </a:xfrm>
            <a:prstGeom prst="roundRect">
              <a:avLst/>
            </a:prstGeom>
            <a:solidFill>
              <a:srgbClr val="FFFFFF"/>
            </a:solidFill>
            <a:ln w="38100" cap="flat">
              <a:solidFill>
                <a:srgbClr val="FFAD0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4782B060-B813-1D14-68BC-D4C0536EFAD4}"/>
                </a:ext>
              </a:extLst>
            </p:cNvPr>
            <p:cNvGrpSpPr/>
            <p:nvPr/>
          </p:nvGrpSpPr>
          <p:grpSpPr>
            <a:xfrm>
              <a:off x="1043777" y="3061598"/>
              <a:ext cx="10393718" cy="715087"/>
              <a:chOff x="1043778" y="2994839"/>
              <a:chExt cx="10393718" cy="715087"/>
            </a:xfrm>
            <a:noFill/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7BFA75F5-4F3C-5110-E0DA-13A2D4F5EEB6}"/>
                  </a:ext>
                </a:extLst>
              </p:cNvPr>
              <p:cNvSpPr/>
              <p:nvPr/>
            </p:nvSpPr>
            <p:spPr>
              <a:xfrm>
                <a:off x="1043778" y="2994839"/>
                <a:ext cx="2654274" cy="408620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xiforma-Light"/>
                  </a:rPr>
                  <a:t>Entram todos os lead;</a:t>
                </a:r>
                <a:endParaRPr kumimoji="0" lang="pt-BR" sz="18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xiforma-Light"/>
                  <a:sym typeface="Calibri"/>
                </a:endParaRPr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154048E9-920E-511E-7444-39E36681893C}"/>
                  </a:ext>
                </a:extLst>
              </p:cNvPr>
              <p:cNvSpPr/>
              <p:nvPr/>
            </p:nvSpPr>
            <p:spPr>
              <a:xfrm>
                <a:off x="3612630" y="2994839"/>
                <a:ext cx="2438878" cy="715087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xiforma-Light"/>
                  </a:rPr>
                  <a:t>Registramos o histórico de contato; </a:t>
                </a:r>
              </a:p>
            </p:txBody>
          </p:sp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C5E3BF3A-F136-D0BF-6191-BA20554F580B}"/>
                  </a:ext>
                </a:extLst>
              </p:cNvPr>
              <p:cNvSpPr/>
              <p:nvPr/>
            </p:nvSpPr>
            <p:spPr>
              <a:xfrm>
                <a:off x="5966086" y="2994839"/>
                <a:ext cx="2895360" cy="715087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xiforma-Light"/>
                  </a:rPr>
                  <a:t>Acompanhamos em qual etapa cada lead está;</a:t>
                </a:r>
                <a:endParaRPr kumimoji="0" lang="pt-BR" sz="18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xiforma-Light"/>
                  <a:sym typeface="Calibri"/>
                </a:endParaRPr>
              </a:p>
            </p:txBody>
          </p:sp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id="{B9717FC3-7DE0-02D7-4C73-573903FC3B96}"/>
                  </a:ext>
                </a:extLst>
              </p:cNvPr>
              <p:cNvSpPr/>
              <p:nvPr/>
            </p:nvSpPr>
            <p:spPr>
              <a:xfrm>
                <a:off x="8776024" y="2994839"/>
                <a:ext cx="2661472" cy="408620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xiforma-Light"/>
                  </a:rPr>
                  <a:t>Marcamos o desfecho</a:t>
                </a:r>
              </a:p>
            </p:txBody>
          </p:sp>
        </p:grpSp>
      </p:grp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821B5F7-D27A-8AAA-3BF1-C15DD0012127}"/>
              </a:ext>
            </a:extLst>
          </p:cNvPr>
          <p:cNvCxnSpPr>
            <a:cxnSpLocks/>
          </p:cNvCxnSpPr>
          <p:nvPr/>
        </p:nvCxnSpPr>
        <p:spPr>
          <a:xfrm>
            <a:off x="5882549" y="2649609"/>
            <a:ext cx="390" cy="221444"/>
          </a:xfrm>
          <a:prstGeom prst="line">
            <a:avLst/>
          </a:prstGeom>
          <a:noFill/>
          <a:ln w="38100" cap="flat">
            <a:solidFill>
              <a:srgbClr val="FFAD0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D6BA74AB-8F88-791A-6BFE-1D226ED1D01E}"/>
              </a:ext>
            </a:extLst>
          </p:cNvPr>
          <p:cNvGrpSpPr/>
          <p:nvPr/>
        </p:nvGrpSpPr>
        <p:grpSpPr>
          <a:xfrm>
            <a:off x="546051" y="4994974"/>
            <a:ext cx="10807908" cy="1094282"/>
            <a:chOff x="629587" y="2878111"/>
            <a:chExt cx="10807908" cy="1094282"/>
          </a:xfrm>
        </p:grpSpPr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561049CE-B5BB-50D8-6F7A-30E2642BB47C}"/>
                </a:ext>
              </a:extLst>
            </p:cNvPr>
            <p:cNvSpPr/>
            <p:nvPr/>
          </p:nvSpPr>
          <p:spPr>
            <a:xfrm>
              <a:off x="629587" y="2878111"/>
              <a:ext cx="10807908" cy="1094282"/>
            </a:xfrm>
            <a:prstGeom prst="roundRect">
              <a:avLst/>
            </a:prstGeom>
            <a:solidFill>
              <a:srgbClr val="FFFFFF"/>
            </a:solidFill>
            <a:ln w="38100" cap="flat">
              <a:solidFill>
                <a:srgbClr val="FFAD0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4E5BCAB7-8194-9687-C77A-AA1CBA29472C}"/>
                </a:ext>
              </a:extLst>
            </p:cNvPr>
            <p:cNvGrpSpPr/>
            <p:nvPr/>
          </p:nvGrpSpPr>
          <p:grpSpPr>
            <a:xfrm>
              <a:off x="1043777" y="2963455"/>
              <a:ext cx="10393718" cy="715087"/>
              <a:chOff x="1043778" y="2896696"/>
              <a:chExt cx="10393718" cy="715087"/>
            </a:xfrm>
            <a:noFill/>
          </p:grpSpPr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39ECA312-C2DD-7243-7C6E-DC6CBC33E1B2}"/>
                  </a:ext>
                </a:extLst>
              </p:cNvPr>
              <p:cNvSpPr/>
              <p:nvPr/>
            </p:nvSpPr>
            <p:spPr>
              <a:xfrm>
                <a:off x="1043778" y="2896696"/>
                <a:ext cx="2654274" cy="715087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i="1" dirty="0"/>
                  <a:t>Quantos leads vieram de cada canal;</a:t>
                </a:r>
                <a:endParaRPr kumimoji="0" lang="pt-BR" sz="180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xiforma-Light"/>
                  <a:sym typeface="Calibri"/>
                </a:endParaRPr>
              </a:p>
            </p:txBody>
          </p:sp>
          <p:sp>
            <p:nvSpPr>
              <p:cNvPr id="34" name="Retângulo: Cantos Arredondados 33">
                <a:extLst>
                  <a:ext uri="{FF2B5EF4-FFF2-40B4-BE49-F238E27FC236}">
                    <a16:creationId xmlns:a16="http://schemas.microsoft.com/office/drawing/2014/main" id="{F2FC422A-07F3-DBF8-6ADD-D26085ACAA67}"/>
                  </a:ext>
                </a:extLst>
              </p:cNvPr>
              <p:cNvSpPr/>
              <p:nvPr/>
            </p:nvSpPr>
            <p:spPr>
              <a:xfrm>
                <a:off x="3612630" y="2896696"/>
                <a:ext cx="2438878" cy="715087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i="1" dirty="0"/>
                  <a:t>Qual a taxa de conversão real</a:t>
                </a:r>
                <a:endParaRPr lang="pt-BR" i="1" dirty="0">
                  <a:latin typeface="Axiforma-Light"/>
                </a:endParaRPr>
              </a:p>
            </p:txBody>
          </p:sp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53049571-BBDB-AE05-1C60-33D7923903F3}"/>
                  </a:ext>
                </a:extLst>
              </p:cNvPr>
              <p:cNvSpPr/>
              <p:nvPr/>
            </p:nvSpPr>
            <p:spPr>
              <a:xfrm>
                <a:off x="5966086" y="2896696"/>
                <a:ext cx="2895360" cy="715087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i="1" dirty="0">
                    <a:latin typeface="Axiforma-Light"/>
                  </a:rPr>
                  <a:t>Onde estamos perdendo oportunidades;</a:t>
                </a:r>
                <a:endParaRPr kumimoji="0" lang="pt-BR" sz="180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xiforma-Light"/>
                  <a:sym typeface="Calibri"/>
                </a:endParaRPr>
              </a:p>
            </p:txBody>
          </p:sp>
          <p:sp>
            <p:nvSpPr>
              <p:cNvPr id="36" name="Retângulo: Cantos Arredondados 35">
                <a:extLst>
                  <a:ext uri="{FF2B5EF4-FFF2-40B4-BE49-F238E27FC236}">
                    <a16:creationId xmlns:a16="http://schemas.microsoft.com/office/drawing/2014/main" id="{42548949-8FA0-3D3F-C63F-DCEA322A5B09}"/>
                  </a:ext>
                </a:extLst>
              </p:cNvPr>
              <p:cNvSpPr/>
              <p:nvPr/>
            </p:nvSpPr>
            <p:spPr>
              <a:xfrm>
                <a:off x="8776024" y="2896696"/>
                <a:ext cx="2661472" cy="715087"/>
              </a:xfrm>
              <a:prstGeom prst="roundRect">
                <a:avLst/>
              </a:prstGeom>
              <a:grpFill/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i="1" dirty="0">
                    <a:latin typeface="Axiforma-Light"/>
                  </a:rPr>
                  <a:t>Qual unidade/vendedor performa melhor</a:t>
                </a:r>
              </a:p>
            </p:txBody>
          </p:sp>
        </p:grpSp>
      </p:grp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17539B75-E4F2-F84F-AF73-1D4137A644B7}"/>
              </a:ext>
            </a:extLst>
          </p:cNvPr>
          <p:cNvCxnSpPr>
            <a:stCxn id="23" idx="2"/>
            <a:endCxn id="31" idx="0"/>
          </p:cNvCxnSpPr>
          <p:nvPr/>
        </p:nvCxnSpPr>
        <p:spPr>
          <a:xfrm>
            <a:off x="5950005" y="3965335"/>
            <a:ext cx="0" cy="1029639"/>
          </a:xfrm>
          <a:prstGeom prst="line">
            <a:avLst/>
          </a:prstGeom>
          <a:noFill/>
          <a:ln w="57150" cap="flat">
            <a:solidFill>
              <a:srgbClr val="FFAD01"/>
            </a:solidFill>
            <a:prstDash val="sysDot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FCF6FD3-6BE2-5CED-BEDF-361701D38843}"/>
              </a:ext>
            </a:extLst>
          </p:cNvPr>
          <p:cNvSpPr txBox="1"/>
          <p:nvPr/>
        </p:nvSpPr>
        <p:spPr>
          <a:xfrm>
            <a:off x="2250824" y="4280099"/>
            <a:ext cx="7772399" cy="400110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Dados ruins no </a:t>
            </a:r>
            <a:r>
              <a:rPr lang="pt-BR" sz="2000" b="1" dirty="0" err="1">
                <a:solidFill>
                  <a:schemeClr val="bg1"/>
                </a:solidFill>
              </a:rPr>
              <a:t>HubSpot</a:t>
            </a:r>
            <a:r>
              <a:rPr lang="pt-BR" sz="2000" b="1" dirty="0">
                <a:solidFill>
                  <a:schemeClr val="bg1"/>
                </a:solidFill>
              </a:rPr>
              <a:t> = decisões erradas de investimento</a:t>
            </a: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18740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6E7C-3281-A5D8-4DFF-71D1FB98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aixaDeTexto 7">
            <a:extLst>
              <a:ext uri="{FF2B5EF4-FFF2-40B4-BE49-F238E27FC236}">
                <a16:creationId xmlns:a16="http://schemas.microsoft.com/office/drawing/2014/main" id="{FBBDAA06-9BA4-6EF4-7FC5-470DCA9EFF48}"/>
              </a:ext>
            </a:extLst>
          </p:cNvPr>
          <p:cNvSpPr txBox="1"/>
          <p:nvPr/>
        </p:nvSpPr>
        <p:spPr>
          <a:xfrm>
            <a:off x="1256296" y="6540472"/>
            <a:ext cx="6006539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2929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rPr dirty="0"/>
              <a:t>00/00/25 , </a:t>
            </a:r>
            <a:r>
              <a:rPr dirty="0" err="1"/>
              <a:t>confidencialidade</a:t>
            </a:r>
            <a:r>
              <a:rPr dirty="0"/>
              <a:t>, </a:t>
            </a:r>
            <a:r>
              <a:rPr dirty="0" err="1"/>
              <a:t>fonte</a:t>
            </a:r>
            <a:endParaRPr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CE863B-8252-23A8-2895-152778E4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Quem é a Secretária?</a:t>
            </a:r>
            <a:br>
              <a:rPr lang="pt-BR" dirty="0"/>
            </a:br>
            <a:r>
              <a:rPr lang="pt-BR" sz="2400" b="0" dirty="0"/>
              <a:t>Executa a prospecção ativa, o registro de entradas presenciais (Off-line) e a conversão, gerenciando o lead até a matrícula.</a:t>
            </a:r>
            <a:br>
              <a:rPr lang="pt-BR" sz="2400" b="0" dirty="0"/>
            </a:br>
            <a:endParaRPr lang="en-BR" sz="2400" dirty="0"/>
          </a:p>
        </p:txBody>
      </p: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E8F72884-3D30-2367-E43E-FE28A5EF48F6}"/>
              </a:ext>
            </a:extLst>
          </p:cNvPr>
          <p:cNvGrpSpPr/>
          <p:nvPr/>
        </p:nvGrpSpPr>
        <p:grpSpPr>
          <a:xfrm>
            <a:off x="7704162" y="4376871"/>
            <a:ext cx="3484425" cy="1485320"/>
            <a:chOff x="914400" y="1770162"/>
            <a:chExt cx="3484425" cy="1485320"/>
          </a:xfrm>
        </p:grpSpPr>
        <p:sp>
          <p:nvSpPr>
            <p:cNvPr id="58" name="Retângulo: Cantos Arredondados 57">
              <a:extLst>
                <a:ext uri="{FF2B5EF4-FFF2-40B4-BE49-F238E27FC236}">
                  <a16:creationId xmlns:a16="http://schemas.microsoft.com/office/drawing/2014/main" id="{1D025506-A3F2-4754-B0EB-F84867D461D3}"/>
                </a:ext>
              </a:extLst>
            </p:cNvPr>
            <p:cNvSpPr/>
            <p:nvPr/>
          </p:nvSpPr>
          <p:spPr>
            <a:xfrm>
              <a:off x="914400" y="1937288"/>
              <a:ext cx="3484425" cy="1318194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flat">
              <a:noFill/>
              <a:prstDash val="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C9C6FD28-CEFF-7795-2A7A-A044A3FCF912}"/>
                </a:ext>
              </a:extLst>
            </p:cNvPr>
            <p:cNvSpPr/>
            <p:nvPr/>
          </p:nvSpPr>
          <p:spPr>
            <a:xfrm>
              <a:off x="1043776" y="2296789"/>
              <a:ext cx="3087709" cy="715087"/>
            </a:xfrm>
            <a:prstGeom prst="roundRect">
              <a:avLst/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6800" tIns="45719" rIns="45719" bIns="45719" numCol="1" spcCol="38100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tx1"/>
                  </a:solidFill>
                </a:rPr>
                <a:t>Abordagem direta e primeiro contato com o pai.</a:t>
              </a:r>
              <a:endPara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76321CE3-89A4-1CE4-971E-73D567A652A7}"/>
                </a:ext>
              </a:extLst>
            </p:cNvPr>
            <p:cNvSpPr/>
            <p:nvPr/>
          </p:nvSpPr>
          <p:spPr>
            <a:xfrm>
              <a:off x="1043777" y="1770162"/>
              <a:ext cx="2251404" cy="5193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r>
                <a:rPr lang="pt-BR" b="1" dirty="0">
                  <a:solidFill>
                    <a:schemeClr val="bg2">
                      <a:lumMod val="75000"/>
                    </a:schemeClr>
                  </a:solidFill>
                  <a:latin typeface="Axiforma-Bold"/>
                </a:rPr>
                <a:t>Atendimento Ativo:</a:t>
              </a:r>
              <a:endParaRPr kumimoji="0" lang="pt-BR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Axiforma-Bold"/>
                <a:sym typeface="Calibri"/>
              </a:endParaRPr>
            </a:p>
          </p:txBody>
        </p:sp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A9E562AA-A34E-A761-63C2-BCF5EFF81C68}"/>
              </a:ext>
            </a:extLst>
          </p:cNvPr>
          <p:cNvGrpSpPr/>
          <p:nvPr/>
        </p:nvGrpSpPr>
        <p:grpSpPr>
          <a:xfrm>
            <a:off x="921004" y="2204498"/>
            <a:ext cx="3593024" cy="1825680"/>
            <a:chOff x="915579" y="3549865"/>
            <a:chExt cx="3593024" cy="1825680"/>
          </a:xfrm>
        </p:grpSpPr>
        <p:sp>
          <p:nvSpPr>
            <p:cNvPr id="128" name="Retângulo: Cantos Arredondados 127">
              <a:extLst>
                <a:ext uri="{FF2B5EF4-FFF2-40B4-BE49-F238E27FC236}">
                  <a16:creationId xmlns:a16="http://schemas.microsoft.com/office/drawing/2014/main" id="{D87F64AC-B61E-736A-24BC-F47D0A8ABF62}"/>
                </a:ext>
              </a:extLst>
            </p:cNvPr>
            <p:cNvSpPr/>
            <p:nvPr/>
          </p:nvSpPr>
          <p:spPr>
            <a:xfrm>
              <a:off x="915579" y="3801577"/>
              <a:ext cx="3593024" cy="157396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52" name="Retângulo: Cantos Arredondados 51">
              <a:extLst>
                <a:ext uri="{FF2B5EF4-FFF2-40B4-BE49-F238E27FC236}">
                  <a16:creationId xmlns:a16="http://schemas.microsoft.com/office/drawing/2014/main" id="{16D42F53-8F83-1681-CD18-402344E657E9}"/>
                </a:ext>
              </a:extLst>
            </p:cNvPr>
            <p:cNvSpPr/>
            <p:nvPr/>
          </p:nvSpPr>
          <p:spPr>
            <a:xfrm>
              <a:off x="1026131" y="4080575"/>
              <a:ext cx="3319545" cy="1021554"/>
            </a:xfrm>
            <a:prstGeom prst="roundRect">
              <a:avLst/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6800" tIns="45719" rIns="45719" bIns="45719" numCol="1" spcCol="38100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tx1"/>
                  </a:solidFill>
                </a:rPr>
                <a:t>Planejamento de ações físicas em escolas e condomínios para visibilidade offline</a:t>
              </a:r>
            </a:p>
          </p:txBody>
        </p: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5D00D75-1B86-45AF-6C08-55B02D774D7D}"/>
                </a:ext>
              </a:extLst>
            </p:cNvPr>
            <p:cNvSpPr/>
            <p:nvPr/>
          </p:nvSpPr>
          <p:spPr>
            <a:xfrm>
              <a:off x="1026132" y="3549865"/>
              <a:ext cx="2251404" cy="5193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r>
                <a:rPr lang="pt-BR" b="1" dirty="0">
                  <a:solidFill>
                    <a:schemeClr val="bg2">
                      <a:lumMod val="75000"/>
                    </a:schemeClr>
                  </a:solidFill>
                  <a:latin typeface="Axiforma-Bold"/>
                </a:rPr>
                <a:t>Gestão de Eventos:</a:t>
              </a:r>
              <a:endParaRPr lang="pt-BR" dirty="0">
                <a:solidFill>
                  <a:schemeClr val="bg2">
                    <a:lumMod val="75000"/>
                  </a:schemeClr>
                </a:solidFill>
                <a:latin typeface="Axiforma-Bold"/>
              </a:endParaRPr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B1C665F1-332D-6A91-0E1E-AAE494F3F230}"/>
              </a:ext>
            </a:extLst>
          </p:cNvPr>
          <p:cNvGrpSpPr/>
          <p:nvPr/>
        </p:nvGrpSpPr>
        <p:grpSpPr>
          <a:xfrm>
            <a:off x="7739145" y="2204498"/>
            <a:ext cx="3593024" cy="1892475"/>
            <a:chOff x="7739145" y="1566245"/>
            <a:chExt cx="3593024" cy="1892475"/>
          </a:xfrm>
        </p:grpSpPr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75AF66B7-4DBD-43EF-00C3-CC8ED47CA7F1}"/>
                </a:ext>
              </a:extLst>
            </p:cNvPr>
            <p:cNvSpPr/>
            <p:nvPr/>
          </p:nvSpPr>
          <p:spPr>
            <a:xfrm>
              <a:off x="7739145" y="1846143"/>
              <a:ext cx="3593024" cy="1612577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42A5DCBD-85F0-F7D5-E0E1-6D256D7D8B31}"/>
                </a:ext>
              </a:extLst>
            </p:cNvPr>
            <p:cNvSpPr/>
            <p:nvPr/>
          </p:nvSpPr>
          <p:spPr>
            <a:xfrm>
              <a:off x="7860223" y="2142783"/>
              <a:ext cx="3471946" cy="1021554"/>
            </a:xfrm>
            <a:prstGeom prst="roundRect">
              <a:avLst/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6800" tIns="45719" rIns="45719" bIns="45719" numCol="1" spcCol="38100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tx1"/>
                  </a:solidFill>
                </a:rPr>
                <a:t>Gestão do ciclo comercial completo, desde a qualificação até a retenção pós-matrícula.</a:t>
              </a:r>
            </a:p>
          </p:txBody>
        </p:sp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DA7E3583-9A79-53AE-E99B-1E367CC8F141}"/>
                </a:ext>
              </a:extLst>
            </p:cNvPr>
            <p:cNvSpPr/>
            <p:nvPr/>
          </p:nvSpPr>
          <p:spPr>
            <a:xfrm>
              <a:off x="7860223" y="1566245"/>
              <a:ext cx="2251404" cy="5193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r>
                <a:rPr lang="pt-BR" b="1" dirty="0">
                  <a:solidFill>
                    <a:schemeClr val="bg2">
                      <a:lumMod val="75000"/>
                    </a:schemeClr>
                  </a:solidFill>
                  <a:latin typeface="Axiforma-Bold"/>
                </a:rPr>
                <a:t>Acompanhamento: </a:t>
              </a:r>
              <a:endParaRPr lang="pt-BR" dirty="0">
                <a:solidFill>
                  <a:schemeClr val="bg2">
                    <a:lumMod val="75000"/>
                  </a:schemeClr>
                </a:solidFill>
                <a:latin typeface="Axiforma-Bold"/>
              </a:endParaRPr>
            </a:p>
          </p:txBody>
        </p:sp>
      </p:grp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73BC309D-697E-1A0D-B48E-4D4F5AAAE9DF}"/>
              </a:ext>
            </a:extLst>
          </p:cNvPr>
          <p:cNvGrpSpPr/>
          <p:nvPr/>
        </p:nvGrpSpPr>
        <p:grpSpPr>
          <a:xfrm>
            <a:off x="894816" y="4277541"/>
            <a:ext cx="3593024" cy="1859779"/>
            <a:chOff x="7860223" y="3625442"/>
            <a:chExt cx="3593024" cy="1859779"/>
          </a:xfrm>
        </p:grpSpPr>
        <p:sp>
          <p:nvSpPr>
            <p:cNvPr id="63" name="Retângulo: Cantos Arredondados 62">
              <a:extLst>
                <a:ext uri="{FF2B5EF4-FFF2-40B4-BE49-F238E27FC236}">
                  <a16:creationId xmlns:a16="http://schemas.microsoft.com/office/drawing/2014/main" id="{D13FB8C6-62D2-80F1-DDED-08A17DB74AF9}"/>
                </a:ext>
              </a:extLst>
            </p:cNvPr>
            <p:cNvSpPr/>
            <p:nvPr/>
          </p:nvSpPr>
          <p:spPr>
            <a:xfrm>
              <a:off x="7860223" y="3911253"/>
              <a:ext cx="3593024" cy="157396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4AB379F1-301F-AFA5-30BA-BB4F62818059}"/>
                </a:ext>
              </a:extLst>
            </p:cNvPr>
            <p:cNvSpPr/>
            <p:nvPr/>
          </p:nvSpPr>
          <p:spPr>
            <a:xfrm>
              <a:off x="7981627" y="4190721"/>
              <a:ext cx="3319546" cy="1021554"/>
            </a:xfrm>
            <a:prstGeom prst="roundRect">
              <a:avLst/>
            </a:prstGeom>
            <a:no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6800" tIns="45719" rIns="45719" bIns="45719" numCol="1" spcCol="38100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tx1"/>
                  </a:solidFill>
                </a:rPr>
                <a:t>Registro manual no </a:t>
              </a:r>
              <a:r>
                <a:rPr lang="pt-BR" dirty="0" err="1">
                  <a:solidFill>
                    <a:schemeClr val="tx1"/>
                  </a:solidFill>
                </a:rPr>
                <a:t>HubSpot</a:t>
              </a:r>
              <a:r>
                <a:rPr lang="pt-BR" dirty="0">
                  <a:solidFill>
                    <a:schemeClr val="tx1"/>
                  </a:solidFill>
                </a:rPr>
                <a:t> de cada visita espontânea ou contato de evento local.</a:t>
              </a:r>
            </a:p>
          </p:txBody>
        </p:sp>
        <p:sp>
          <p:nvSpPr>
            <p:cNvPr id="57" name="Retângulo: Cantos Arredondados 56">
              <a:extLst>
                <a:ext uri="{FF2B5EF4-FFF2-40B4-BE49-F238E27FC236}">
                  <a16:creationId xmlns:a16="http://schemas.microsoft.com/office/drawing/2014/main" id="{D97CCABF-C125-6DEC-6E14-637843BEE99A}"/>
                </a:ext>
              </a:extLst>
            </p:cNvPr>
            <p:cNvSpPr/>
            <p:nvPr/>
          </p:nvSpPr>
          <p:spPr>
            <a:xfrm>
              <a:off x="7981627" y="3625442"/>
              <a:ext cx="1813302" cy="5193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r>
                <a:rPr lang="pt-BR" b="1" dirty="0">
                  <a:solidFill>
                    <a:schemeClr val="bg2">
                      <a:lumMod val="75000"/>
                    </a:schemeClr>
                  </a:solidFill>
                  <a:latin typeface="Axiforma-Bold"/>
                </a:rPr>
                <a:t>Dados Off-line:</a:t>
              </a:r>
              <a:endParaRPr lang="pt-BR" dirty="0">
                <a:solidFill>
                  <a:schemeClr val="bg2">
                    <a:lumMod val="75000"/>
                  </a:schemeClr>
                </a:solidFill>
                <a:latin typeface="Axiforma-Bold"/>
              </a:endParaRPr>
            </a:p>
          </p:txBody>
        </p:sp>
      </p:grpSp>
      <p:sp>
        <p:nvSpPr>
          <p:cNvPr id="133" name="AutoShape 2" descr=", gerada com IA">
            <a:extLst>
              <a:ext uri="{FF2B5EF4-FFF2-40B4-BE49-F238E27FC236}">
                <a16:creationId xmlns:a16="http://schemas.microsoft.com/office/drawing/2014/main" id="{8644135A-A2AC-1C77-6467-6F75A3F7F6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36" name="Imagem 135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B02CEEEE-F3C0-3D7E-B340-ABD61813C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7" t="10983" r="32857" b="54201"/>
          <a:stretch>
            <a:fillRect/>
          </a:stretch>
        </p:blipFill>
        <p:spPr>
          <a:xfrm>
            <a:off x="5103449" y="3020400"/>
            <a:ext cx="2046275" cy="2046275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1683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87600-21FC-BE76-DF3A-5CC6A240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aixaDeTexto 7">
            <a:extLst>
              <a:ext uri="{FF2B5EF4-FFF2-40B4-BE49-F238E27FC236}">
                <a16:creationId xmlns:a16="http://schemas.microsoft.com/office/drawing/2014/main" id="{8EDCB3A3-1A04-7A71-033F-4C5E185F1CE8}"/>
              </a:ext>
            </a:extLst>
          </p:cNvPr>
          <p:cNvSpPr txBox="1"/>
          <p:nvPr/>
        </p:nvSpPr>
        <p:spPr>
          <a:xfrm>
            <a:off x="1256296" y="6540472"/>
            <a:ext cx="6006539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2929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FC002B-042F-55F5-DF84-2723C20B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Origem do Tráfego: A Porta de Entrada</a:t>
            </a:r>
            <a:br>
              <a:rPr lang="pt-BR" b="0" dirty="0"/>
            </a:br>
            <a:r>
              <a:rPr lang="pt-BR" sz="2400" b="0" dirty="0"/>
              <a:t>Origem de tráfego é o registro da "porta de entrada" que registra por onde o responsável nos conheceu/captado antes de se virar lead (cadastro) no </a:t>
            </a:r>
            <a:r>
              <a:rPr lang="pt-BR" sz="2400" b="0" dirty="0" err="1"/>
              <a:t>HubSpot</a:t>
            </a:r>
            <a:r>
              <a:rPr lang="pt-BR" sz="2400" b="0" dirty="0"/>
              <a:t>.</a:t>
            </a:r>
            <a:br>
              <a:rPr lang="pt-BR" sz="2400" dirty="0"/>
            </a:br>
            <a:endParaRPr lang="en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3C02EE4-4D3A-723C-E586-A3FF2AA3F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493908"/>
              </p:ext>
            </p:extLst>
          </p:nvPr>
        </p:nvGraphicFramePr>
        <p:xfrm>
          <a:off x="392244" y="1877274"/>
          <a:ext cx="11407512" cy="4340356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2605789">
                  <a:extLst>
                    <a:ext uri="{9D8B030D-6E8A-4147-A177-3AD203B41FA5}">
                      <a16:colId xmlns:a16="http://schemas.microsoft.com/office/drawing/2014/main" val="3104744506"/>
                    </a:ext>
                  </a:extLst>
                </a:gridCol>
                <a:gridCol w="2308485">
                  <a:extLst>
                    <a:ext uri="{9D8B030D-6E8A-4147-A177-3AD203B41FA5}">
                      <a16:colId xmlns:a16="http://schemas.microsoft.com/office/drawing/2014/main" val="1212014803"/>
                    </a:ext>
                  </a:extLst>
                </a:gridCol>
                <a:gridCol w="6493238">
                  <a:extLst>
                    <a:ext uri="{9D8B030D-6E8A-4147-A177-3AD203B41FA5}">
                      <a16:colId xmlns:a16="http://schemas.microsoft.com/office/drawing/2014/main" val="4050514722"/>
                    </a:ext>
                  </a:extLst>
                </a:gridCol>
              </a:tblGrid>
              <a:tr h="29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/>
                        <a:t>Propriedade </a:t>
                      </a:r>
                      <a:r>
                        <a:rPr lang="pt-BR" sz="1800" b="1" dirty="0" err="1"/>
                        <a:t>HubSpot</a:t>
                      </a:r>
                      <a:endParaRPr lang="pt-BR" sz="1800" b="1" dirty="0">
                        <a:latin typeface="Axiforma-Light"/>
                      </a:endParaRP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/>
                        <a:t>Canal / Plataforma</a:t>
                      </a:r>
                      <a:endParaRPr lang="pt-BR" sz="1800" b="1" dirty="0">
                        <a:latin typeface="Axiforma-Light"/>
                      </a:endParaRP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/>
                        <a:t>Definição Operacional</a:t>
                      </a:r>
                      <a:endParaRPr lang="pt-BR" sz="1800" b="1" dirty="0">
                        <a:latin typeface="Axiforma-Light"/>
                      </a:endParaRP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204491"/>
                  </a:ext>
                </a:extLst>
              </a:tr>
              <a:tr h="49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Tráfego direto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WhatsApp / Secretaria</a:t>
                      </a:r>
                      <a:endParaRPr lang="pt-BR" sz="1400" b="1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Ação da Secretaria: Link da Landing Page enviado manualmente (WhatsApp/E-mail).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384055"/>
                  </a:ext>
                </a:extLst>
              </a:tr>
              <a:tr h="49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Off-line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CRM / Unidade</a:t>
                      </a:r>
                      <a:endParaRPr lang="pt-BR" sz="1400" b="1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Cadastro Manual: Lead inserido diretamente pela unidade (visita presencial ou evento).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303363"/>
                  </a:ext>
                </a:extLst>
              </a:tr>
              <a:tr h="439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Busca paga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Google </a:t>
                      </a:r>
                      <a:r>
                        <a:rPr lang="pt-BR" sz="1400" b="1" dirty="0" err="1"/>
                        <a:t>Ads</a:t>
                      </a:r>
                      <a:endParaRPr lang="pt-BR" sz="1400" b="1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Anúncios no Google: pesquisou termos como "escola de inglês" e clicou.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280956"/>
                  </a:ext>
                </a:extLst>
              </a:tr>
              <a:tr h="439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0" i="0" u="none" strike="noStrike" cap="none" spc="0" baseline="0" dirty="0">
                          <a:solidFill>
                            <a:srgbClr val="000000"/>
                          </a:solidFill>
                          <a:uFillTx/>
                          <a:latin typeface="+mj-lt"/>
                          <a:ea typeface="+mj-ea"/>
                          <a:cs typeface="+mj-cs"/>
                          <a:sym typeface="Calibri"/>
                        </a:rPr>
                        <a:t>Busca orgânica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Google Search</a:t>
                      </a:r>
                      <a:endParaRPr lang="pt-BR" sz="1400" b="1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Google Natural: O pai buscou e nos encontrou organicamente (SEO), sem custo por clique.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947481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Social Pago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Meta (Insta/Face)</a:t>
                      </a:r>
                      <a:endParaRPr lang="pt-BR" sz="1400" b="1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Anúncios Sociais: O lead veio de uma campanha paga de captação no Instagram ou Facebook.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102950"/>
                  </a:ext>
                </a:extLst>
              </a:tr>
              <a:tr h="49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Social Orgânico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Meta (Insta/Face)</a:t>
                      </a:r>
                      <a:endParaRPr lang="pt-BR" sz="1400" b="1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Redes Sociais: O lead veio de uma interação com o perfil nas redes sociais da marca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239643"/>
                  </a:ext>
                </a:extLst>
              </a:tr>
              <a:tr h="49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Referências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Outros Sites</a:t>
                      </a:r>
                      <a:endParaRPr lang="pt-BR" sz="1400" b="1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Sites Parceiros: Tráfego vindo de links parceiros ou IA 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684373"/>
                  </a:ext>
                </a:extLst>
              </a:tr>
              <a:tr h="491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E-mail marketing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 err="1"/>
                        <a:t>HubSpot</a:t>
                      </a:r>
                      <a:r>
                        <a:rPr lang="pt-BR" sz="1400" b="1" dirty="0"/>
                        <a:t> E-mail</a:t>
                      </a:r>
                      <a:endParaRPr lang="pt-BR" sz="1400" b="1" dirty="0">
                        <a:latin typeface="Axiforma-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Campanhas: Primeiro contato registrado foi através de um e-mail enviado pelo CRM.</a:t>
                      </a:r>
                      <a:endParaRPr lang="pt-BR" sz="1400" dirty="0">
                        <a:latin typeface="Axiforma-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14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04780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82D9-5E88-50D4-3301-7FF8BEC3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81594751-7945-86CE-0F0A-0E8F6C81D361}"/>
              </a:ext>
            </a:extLst>
          </p:cNvPr>
          <p:cNvSpPr/>
          <p:nvPr/>
        </p:nvSpPr>
        <p:spPr>
          <a:xfrm rot="16200000">
            <a:off x="-208485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2C3100-0A75-AD58-D397-663CA219D7C8}"/>
              </a:ext>
            </a:extLst>
          </p:cNvPr>
          <p:cNvSpPr/>
          <p:nvPr/>
        </p:nvSpPr>
        <p:spPr>
          <a:xfrm>
            <a:off x="6536272" y="921084"/>
            <a:ext cx="5235089" cy="5235089"/>
          </a:xfrm>
          <a:prstGeom prst="ellipse">
            <a:avLst/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50EE8034-936D-9231-8152-A86B5F6DCB25}"/>
              </a:ext>
            </a:extLst>
          </p:cNvPr>
          <p:cNvSpPr txBox="1"/>
          <p:nvPr/>
        </p:nvSpPr>
        <p:spPr>
          <a:xfrm>
            <a:off x="7620311" y="2921169"/>
            <a:ext cx="2902784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 defTabSz="457200">
              <a:lnSpc>
                <a:spcPct val="70000"/>
              </a:lnSpc>
              <a:defRPr sz="3000">
                <a:solidFill>
                  <a:srgbClr val="F5BF51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pPr>
              <a:lnSpc>
                <a:spcPct val="100000"/>
              </a:lnSpc>
            </a:pPr>
            <a:r>
              <a:rPr lang="pt-BR" b="1" dirty="0"/>
              <a:t>Jornada do Lead no </a:t>
            </a:r>
            <a:r>
              <a:rPr lang="pt-BR" b="1" dirty="0" err="1"/>
              <a:t>HubSpot</a:t>
            </a:r>
            <a:endParaRPr lang="pt-BR" b="1" dirty="0"/>
          </a:p>
        </p:txBody>
      </p:sp>
      <p:pic>
        <p:nvPicPr>
          <p:cNvPr id="13" name="Imagem 12" descr="Pessoas posando para foto&#10;&#10;O conteúdo gerado por IA pode estar incorreto.">
            <a:extLst>
              <a:ext uri="{FF2B5EF4-FFF2-40B4-BE49-F238E27FC236}">
                <a16:creationId xmlns:a16="http://schemas.microsoft.com/office/drawing/2014/main" id="{66732406-0473-3390-D3C9-B33936B36F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6" r="10823" b="483"/>
          <a:stretch>
            <a:fillRect/>
          </a:stretch>
        </p:blipFill>
        <p:spPr>
          <a:xfrm>
            <a:off x="280919" y="733705"/>
            <a:ext cx="5396400" cy="5370243"/>
          </a:xfrm>
          <a:custGeom>
            <a:avLst/>
            <a:gdLst>
              <a:gd name="csX0" fmla="*/ 2342213 w 5396400"/>
              <a:gd name="csY0" fmla="*/ 0 h 5370243"/>
              <a:gd name="csX1" fmla="*/ 3054187 w 5396400"/>
              <a:gd name="csY1" fmla="*/ 0 h 5370243"/>
              <a:gd name="csX2" fmla="*/ 3241982 w 5396400"/>
              <a:gd name="csY2" fmla="*/ 28661 h 5370243"/>
              <a:gd name="csX3" fmla="*/ 5396400 w 5396400"/>
              <a:gd name="csY3" fmla="*/ 2672043 h 5370243"/>
              <a:gd name="csX4" fmla="*/ 2698200 w 5396400"/>
              <a:gd name="csY4" fmla="*/ 5370243 h 5370243"/>
              <a:gd name="csX5" fmla="*/ 0 w 5396400"/>
              <a:gd name="csY5" fmla="*/ 2672043 h 5370243"/>
              <a:gd name="csX6" fmla="*/ 2154419 w 5396400"/>
              <a:gd name="csY6" fmla="*/ 28661 h 5370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96400" h="5370243">
                <a:moveTo>
                  <a:pt x="2342213" y="0"/>
                </a:moveTo>
                <a:lnTo>
                  <a:pt x="3054187" y="0"/>
                </a:lnTo>
                <a:lnTo>
                  <a:pt x="3241982" y="28661"/>
                </a:lnTo>
                <a:cubicBezTo>
                  <a:pt x="4471506" y="280258"/>
                  <a:pt x="5396400" y="1368140"/>
                  <a:pt x="5396400" y="2672043"/>
                </a:cubicBezTo>
                <a:cubicBezTo>
                  <a:pt x="5396400" y="4162218"/>
                  <a:pt x="4188375" y="5370243"/>
                  <a:pt x="2698200" y="5370243"/>
                </a:cubicBezTo>
                <a:cubicBezTo>
                  <a:pt x="1208025" y="5370243"/>
                  <a:pt x="0" y="4162218"/>
                  <a:pt x="0" y="2672043"/>
                </a:cubicBezTo>
                <a:cubicBezTo>
                  <a:pt x="0" y="1368140"/>
                  <a:pt x="924894" y="280258"/>
                  <a:pt x="2154419" y="286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39425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6AB3-04A2-2CCE-C891-1B632E086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2E649-D3CF-7CE6-51A9-2346DB3A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Jornada do Lead no </a:t>
            </a:r>
            <a:r>
              <a:rPr lang="pt-BR" dirty="0" err="1"/>
              <a:t>HubSpot</a:t>
            </a:r>
            <a:br>
              <a:rPr lang="pt-BR" b="0" dirty="0"/>
            </a:br>
            <a:r>
              <a:rPr lang="pt-BR" sz="2400" b="0" dirty="0"/>
              <a:t>As 8 etapas do pipeline comercial </a:t>
            </a:r>
            <a:r>
              <a:rPr lang="pt-BR" sz="2400" b="0" dirty="0" err="1"/>
              <a:t>Red</a:t>
            </a:r>
            <a:r>
              <a:rPr lang="pt-BR" sz="2400" b="0" dirty="0"/>
              <a:t> </a:t>
            </a:r>
            <a:r>
              <a:rPr lang="pt-BR" sz="2400" b="0" dirty="0" err="1"/>
              <a:t>Balloon</a:t>
            </a:r>
            <a:br>
              <a:rPr lang="pt-BR" sz="2400" b="0" dirty="0"/>
            </a:br>
            <a:endParaRPr lang="en-BR" b="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9377C0B-9477-CA12-A55E-BCE47E8C6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32566"/>
              </p:ext>
            </p:extLst>
          </p:nvPr>
        </p:nvGraphicFramePr>
        <p:xfrm>
          <a:off x="703289" y="1752600"/>
          <a:ext cx="11049000" cy="4108555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2069891">
                  <a:extLst>
                    <a:ext uri="{9D8B030D-6E8A-4147-A177-3AD203B41FA5}">
                      <a16:colId xmlns:a16="http://schemas.microsoft.com/office/drawing/2014/main" val="3670812597"/>
                    </a:ext>
                  </a:extLst>
                </a:gridCol>
                <a:gridCol w="4047345">
                  <a:extLst>
                    <a:ext uri="{9D8B030D-6E8A-4147-A177-3AD203B41FA5}">
                      <a16:colId xmlns:a16="http://schemas.microsoft.com/office/drawing/2014/main" val="1089396249"/>
                    </a:ext>
                  </a:extLst>
                </a:gridCol>
                <a:gridCol w="4931764">
                  <a:extLst>
                    <a:ext uri="{9D8B030D-6E8A-4147-A177-3AD203B41FA5}">
                      <a16:colId xmlns:a16="http://schemas.microsoft.com/office/drawing/2014/main" val="1310928684"/>
                    </a:ext>
                  </a:extLst>
                </a:gridCol>
              </a:tblGrid>
              <a:tr h="5248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pt-BR" sz="18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</a:rPr>
                        <a:t>Descrição</a:t>
                      </a:r>
                      <a:endParaRPr lang="pt-BR" sz="18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</a:rPr>
                        <a:t>Observação</a:t>
                      </a:r>
                      <a:endParaRPr lang="pt-BR" sz="18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252641"/>
                  </a:ext>
                </a:extLst>
              </a:tr>
              <a:tr h="7002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NOVO NEGÓCIO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Lead entrou no sistema, aguardando primeiro contato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Atividades = 0 (digital) ou 1 (off-line que já contou atendimento inicial);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959516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EM QUALIFICAÇÃO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Equipe comercial está trabalhando o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Lead foi contatado uma vez pelo menos;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661528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VISITA AGENDADA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Visita à unidade foi marcada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Houve contato + agendamento;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698763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VISITA REALIZADA</a:t>
                      </a: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Lead conheceu a escola presencialmente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O responsável foi na </a:t>
                      </a:r>
                      <a:r>
                        <a:rPr lang="pt-BR" sz="1400" dirty="0" err="1"/>
                        <a:t>undiade</a:t>
                      </a:r>
                      <a:r>
                        <a:rPr lang="pt-BR" sz="1400" dirty="0"/>
                        <a:t>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339127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LISTA DE ESPERA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Quer matricular, aguardando vaga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Lead que não conseguiu uma vaga na unidade;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642709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EM PAUSA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Decisão temporariamente suspensa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Status congelado de atendimento;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545159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MATRÍCULA CONCLUÍDA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Converteu — virou aluno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Cadastrado como matriculado;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977281"/>
                  </a:ext>
                </a:extLst>
              </a:tr>
              <a:tr h="411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NEGÓCIO PERDIDO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Não vai matricular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Motivo deve ser registrado para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759118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0E516B0-E397-E397-36FC-472E0A6B6AB7}"/>
              </a:ext>
            </a:extLst>
          </p:cNvPr>
          <p:cNvSpPr/>
          <p:nvPr/>
        </p:nvSpPr>
        <p:spPr>
          <a:xfrm>
            <a:off x="9433868" y="662435"/>
            <a:ext cx="2648204" cy="578880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400" b="1" dirty="0"/>
              <a:t>DIGITAL (Automático)</a:t>
            </a:r>
            <a:r>
              <a:rPr lang="pt-BR" sz="1400" dirty="0"/>
              <a:t> </a:t>
            </a:r>
          </a:p>
          <a:p>
            <a:r>
              <a:rPr lang="pt-BR" sz="1400" dirty="0">
                <a:solidFill>
                  <a:schemeClr val="bg1"/>
                </a:solidFill>
                <a:highlight>
                  <a:srgbClr val="5219A1"/>
                </a:highlight>
              </a:rPr>
              <a:t>Entra automático no </a:t>
            </a:r>
            <a:r>
              <a:rPr lang="pt-BR" sz="1400" dirty="0" err="1">
                <a:solidFill>
                  <a:schemeClr val="bg1"/>
                </a:solidFill>
                <a:highlight>
                  <a:srgbClr val="5219A1"/>
                </a:highlight>
              </a:rPr>
              <a:t>HubSpot</a:t>
            </a:r>
            <a:r>
              <a:rPr lang="pt-BR" sz="1400" dirty="0">
                <a:solidFill>
                  <a:schemeClr val="bg1"/>
                </a:solidFill>
                <a:highlight>
                  <a:srgbClr val="5219A1"/>
                </a:highlight>
              </a:rPr>
              <a:t>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4A4C38F-C39A-0441-8A46-48419417F90C}"/>
              </a:ext>
            </a:extLst>
          </p:cNvPr>
          <p:cNvSpPr/>
          <p:nvPr/>
        </p:nvSpPr>
        <p:spPr>
          <a:xfrm>
            <a:off x="9433868" y="1187437"/>
            <a:ext cx="2318421" cy="578880"/>
          </a:xfrm>
          <a:prstGeom prst="roundRect">
            <a:avLst/>
          </a:prstGeom>
          <a:noFill/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spAutoFit/>
          </a:bodyPr>
          <a:lstStyle/>
          <a:p>
            <a:r>
              <a:rPr lang="pt-BR" sz="1400" b="1" dirty="0"/>
              <a:t>OFF-LINE (Manual)</a:t>
            </a:r>
            <a:r>
              <a:rPr lang="pt-BR" sz="1400" dirty="0"/>
              <a:t> </a:t>
            </a:r>
          </a:p>
          <a:p>
            <a:r>
              <a:rPr lang="pt-BR" sz="1400" dirty="0">
                <a:solidFill>
                  <a:schemeClr val="bg1"/>
                </a:solidFill>
                <a:highlight>
                  <a:srgbClr val="5219A1"/>
                </a:highlight>
              </a:rPr>
              <a:t>Cadastra manual no </a:t>
            </a:r>
            <a:r>
              <a:rPr lang="pt-BR" sz="1400" dirty="0" err="1">
                <a:solidFill>
                  <a:schemeClr val="bg1"/>
                </a:solidFill>
                <a:highlight>
                  <a:srgbClr val="5219A1"/>
                </a:highlight>
              </a:rPr>
              <a:t>HubSpot</a:t>
            </a:r>
            <a:r>
              <a:rPr lang="pt-BR" sz="1400" dirty="0">
                <a:solidFill>
                  <a:schemeClr val="bg1"/>
                </a:solidFill>
                <a:highlight>
                  <a:srgbClr val="5219A1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02985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5BA8-F937-7B3B-7504-7596396D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656C22DB-B019-307F-DD5C-066669856AB3}"/>
              </a:ext>
            </a:extLst>
          </p:cNvPr>
          <p:cNvSpPr/>
          <p:nvPr/>
        </p:nvSpPr>
        <p:spPr>
          <a:xfrm rot="16200000">
            <a:off x="-208485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FC26B5-1F16-2862-1A1B-93CE73E7B681}"/>
              </a:ext>
            </a:extLst>
          </p:cNvPr>
          <p:cNvSpPr/>
          <p:nvPr/>
        </p:nvSpPr>
        <p:spPr>
          <a:xfrm>
            <a:off x="6536272" y="921084"/>
            <a:ext cx="5235089" cy="5235089"/>
          </a:xfrm>
          <a:prstGeom prst="ellipse">
            <a:avLst/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DCE82B54-EDAC-B17C-EB3E-DE3DFCFEB270}"/>
              </a:ext>
            </a:extLst>
          </p:cNvPr>
          <p:cNvSpPr txBox="1"/>
          <p:nvPr/>
        </p:nvSpPr>
        <p:spPr>
          <a:xfrm>
            <a:off x="7620311" y="3152001"/>
            <a:ext cx="3180254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lnSpc>
                <a:spcPct val="70000"/>
              </a:lnSpc>
              <a:defRPr sz="3000">
                <a:solidFill>
                  <a:srgbClr val="F5BF51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pPr>
              <a:lnSpc>
                <a:spcPct val="100000"/>
              </a:lnSpc>
            </a:pPr>
            <a:r>
              <a:rPr lang="pt-BR" b="1" dirty="0"/>
              <a:t>Status atual</a:t>
            </a:r>
          </a:p>
        </p:txBody>
      </p:sp>
      <p:pic>
        <p:nvPicPr>
          <p:cNvPr id="13" name="Imagem 12" descr="Pessoas posando para foto&#10;&#10;O conteúdo gerado por IA pode estar incorreto.">
            <a:extLst>
              <a:ext uri="{FF2B5EF4-FFF2-40B4-BE49-F238E27FC236}">
                <a16:creationId xmlns:a16="http://schemas.microsoft.com/office/drawing/2014/main" id="{AD5C1ABE-D04A-1BE8-75AA-892681BAB8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6" r="10823" b="483"/>
          <a:stretch>
            <a:fillRect/>
          </a:stretch>
        </p:blipFill>
        <p:spPr>
          <a:xfrm>
            <a:off x="280919" y="733705"/>
            <a:ext cx="5396400" cy="5370243"/>
          </a:xfrm>
          <a:custGeom>
            <a:avLst/>
            <a:gdLst>
              <a:gd name="csX0" fmla="*/ 2342213 w 5396400"/>
              <a:gd name="csY0" fmla="*/ 0 h 5370243"/>
              <a:gd name="csX1" fmla="*/ 3054187 w 5396400"/>
              <a:gd name="csY1" fmla="*/ 0 h 5370243"/>
              <a:gd name="csX2" fmla="*/ 3241982 w 5396400"/>
              <a:gd name="csY2" fmla="*/ 28661 h 5370243"/>
              <a:gd name="csX3" fmla="*/ 5396400 w 5396400"/>
              <a:gd name="csY3" fmla="*/ 2672043 h 5370243"/>
              <a:gd name="csX4" fmla="*/ 2698200 w 5396400"/>
              <a:gd name="csY4" fmla="*/ 5370243 h 5370243"/>
              <a:gd name="csX5" fmla="*/ 0 w 5396400"/>
              <a:gd name="csY5" fmla="*/ 2672043 h 5370243"/>
              <a:gd name="csX6" fmla="*/ 2154419 w 5396400"/>
              <a:gd name="csY6" fmla="*/ 28661 h 5370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96400" h="5370243">
                <a:moveTo>
                  <a:pt x="2342213" y="0"/>
                </a:moveTo>
                <a:lnTo>
                  <a:pt x="3054187" y="0"/>
                </a:lnTo>
                <a:lnTo>
                  <a:pt x="3241982" y="28661"/>
                </a:lnTo>
                <a:cubicBezTo>
                  <a:pt x="4471506" y="280258"/>
                  <a:pt x="5396400" y="1368140"/>
                  <a:pt x="5396400" y="2672043"/>
                </a:cubicBezTo>
                <a:cubicBezTo>
                  <a:pt x="5396400" y="4162218"/>
                  <a:pt x="4188375" y="5370243"/>
                  <a:pt x="2698200" y="5370243"/>
                </a:cubicBezTo>
                <a:cubicBezTo>
                  <a:pt x="1208025" y="5370243"/>
                  <a:pt x="0" y="4162218"/>
                  <a:pt x="0" y="2672043"/>
                </a:cubicBezTo>
                <a:cubicBezTo>
                  <a:pt x="0" y="1368140"/>
                  <a:pt x="924894" y="280258"/>
                  <a:pt x="2154419" y="286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3760936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213D-5ED4-6317-4500-63544CAB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4ACD37-44FA-8473-811B-84FBF775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109.719 totais no </a:t>
            </a:r>
            <a:r>
              <a:rPr lang="pt-BR" dirty="0" err="1"/>
              <a:t>hubspot</a:t>
            </a:r>
            <a:r>
              <a:rPr lang="pt-BR" dirty="0"/>
              <a:t>:</a:t>
            </a:r>
            <a:br>
              <a:rPr lang="pt-BR" dirty="0"/>
            </a:br>
            <a:r>
              <a:rPr lang="pt-BR" sz="2400" b="0" dirty="0"/>
              <a:t>Números extraídos da plataforma até 01/03/2026.</a:t>
            </a:r>
            <a:endParaRPr lang="en-BR" sz="2400" b="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474B565-AB48-A0AC-C1C7-17C7A249D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37750"/>
              </p:ext>
            </p:extLst>
          </p:nvPr>
        </p:nvGraphicFramePr>
        <p:xfrm>
          <a:off x="838200" y="1693973"/>
          <a:ext cx="10515600" cy="280416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135714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498271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059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dirty="0"/>
                        <a:t>Etapa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dirty="0"/>
                        <a:t>Quantidade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dirty="0"/>
                        <a:t>%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71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NOVO NEGÓCIO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0,61%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606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EM QUALIFICAÇÃO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26.532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24,18%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975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VISITA AGENDADA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0,48%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636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VISITA REALIZADA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0,80%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20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LISTA DE ESPERA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0,66%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168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EM PAUSA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11.697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10,66%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28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MATRÍCULA CONCLUÍDA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29.568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26,95%</a:t>
                      </a:r>
                      <a:endParaRPr lang="pt-B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61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NEGÓCIO PERDIDO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39.126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35,66%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484784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8997348-FA92-49D1-27ED-C3E9775CD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540582"/>
              </p:ext>
            </p:extLst>
          </p:nvPr>
        </p:nvGraphicFramePr>
        <p:xfrm>
          <a:off x="838200" y="4615387"/>
          <a:ext cx="10515600" cy="1188720"/>
        </p:xfrm>
        <a:graphic>
          <a:graphicData uri="http://schemas.openxmlformats.org/drawingml/2006/table">
            <a:tbl>
              <a:tblPr firstRow="1">
                <a:tableStyleId>{C7B018BB-80A7-4F77-B60F-C8B233D01FF8}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844818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796534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0131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Quantidade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752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🟡 </a:t>
                      </a:r>
                      <a:r>
                        <a:rPr lang="pt-BR" b="1" dirty="0"/>
                        <a:t>Funil Ativo</a:t>
                      </a:r>
                      <a:r>
                        <a:rPr lang="pt-BR" dirty="0"/>
                        <a:t> (em andamento)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41.026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37,39%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965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🟢 </a:t>
                      </a:r>
                      <a:r>
                        <a:rPr lang="pt-BR" b="1" dirty="0"/>
                        <a:t>Convertidos</a:t>
                      </a:r>
                      <a:r>
                        <a:rPr lang="pt-BR" dirty="0"/>
                        <a:t> (matrículas)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29.568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26,95%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96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🔴 </a:t>
                      </a:r>
                      <a:r>
                        <a:rPr lang="pt-BR" b="1" dirty="0"/>
                        <a:t>Perdidos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39.126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35,66%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809030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E0396F34-3FFE-035C-BCFB-F8BC8308040B}"/>
              </a:ext>
            </a:extLst>
          </p:cNvPr>
          <p:cNvSpPr txBox="1"/>
          <p:nvPr/>
        </p:nvSpPr>
        <p:spPr>
          <a:xfrm>
            <a:off x="2700190" y="5935720"/>
            <a:ext cx="720277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dirty="0"/>
              <a:t>Taxa de conversão geral: </a:t>
            </a:r>
            <a:r>
              <a:rPr lang="pt-BR" b="1" dirty="0"/>
              <a:t>26,7%</a:t>
            </a:r>
            <a:r>
              <a:rPr lang="pt-BR" dirty="0"/>
              <a:t> (29.177 matrículas de 109.115 leads)</a:t>
            </a:r>
          </a:p>
        </p:txBody>
      </p:sp>
    </p:spTree>
    <p:extLst>
      <p:ext uri="{BB962C8B-B14F-4D97-AF65-F5344CB8AC3E}">
        <p14:creationId xmlns:p14="http://schemas.microsoft.com/office/powerpoint/2010/main" val="267050237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28B1-2632-CE5E-3981-0727A197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F014BA-3382-998D-ACB2-69FAB1DE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origem do tráfego:</a:t>
            </a:r>
            <a:br>
              <a:rPr lang="pt-BR" dirty="0"/>
            </a:br>
            <a:r>
              <a:rPr lang="pt-BR" sz="2400" b="0" dirty="0"/>
              <a:t>Números extraídos da plataforma até 01/03/2026.</a:t>
            </a:r>
            <a:endParaRPr lang="en-BR" sz="2400" b="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7E6F62C-B2A8-5DE6-1282-A2EC9507E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642024"/>
              </p:ext>
            </p:extLst>
          </p:nvPr>
        </p:nvGraphicFramePr>
        <p:xfrm>
          <a:off x="109929" y="2398427"/>
          <a:ext cx="4247214" cy="3621144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387940">
                  <a:extLst>
                    <a:ext uri="{9D8B030D-6E8A-4147-A177-3AD203B41FA5}">
                      <a16:colId xmlns:a16="http://schemas.microsoft.com/office/drawing/2014/main" val="1944180159"/>
                    </a:ext>
                  </a:extLst>
                </a:gridCol>
                <a:gridCol w="1415341">
                  <a:extLst>
                    <a:ext uri="{9D8B030D-6E8A-4147-A177-3AD203B41FA5}">
                      <a16:colId xmlns:a16="http://schemas.microsoft.com/office/drawing/2014/main" val="3664573898"/>
                    </a:ext>
                  </a:extLst>
                </a:gridCol>
                <a:gridCol w="1443933">
                  <a:extLst>
                    <a:ext uri="{9D8B030D-6E8A-4147-A177-3AD203B41FA5}">
                      <a16:colId xmlns:a16="http://schemas.microsoft.com/office/drawing/2014/main" val="1647416841"/>
                    </a:ext>
                  </a:extLst>
                </a:gridCol>
              </a:tblGrid>
              <a:tr h="3233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Canal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Leads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% do Total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441246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Fontes off-line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44.849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40,9%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047869391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Social pago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29.588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27,0%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946669748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Pesquisa paga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13.587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12,4%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11640467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Tráfego direto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10.473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9,5%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56907988"/>
                  </a:ext>
                </a:extLst>
              </a:tr>
              <a:tr h="5335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Pesquisa orgânica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8.505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7,8%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4238030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Social orgânico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2.353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2,1%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89492096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Referências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0,3%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57670541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E-mail marketing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0,0%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953543696"/>
                  </a:ext>
                </a:extLst>
              </a:tr>
              <a:tr h="34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Total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109.735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100%</a:t>
                      </a:r>
                      <a:endParaRPr lang="pt-BR" sz="1400" dirty="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901159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69FA0E0-085C-8A47-C2CD-2B535B39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58249"/>
              </p:ext>
            </p:extLst>
          </p:nvPr>
        </p:nvGraphicFramePr>
        <p:xfrm>
          <a:off x="4471440" y="2398429"/>
          <a:ext cx="4247216" cy="3621146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439680">
                  <a:extLst>
                    <a:ext uri="{9D8B030D-6E8A-4147-A177-3AD203B41FA5}">
                      <a16:colId xmlns:a16="http://schemas.microsoft.com/office/drawing/2014/main" val="3620058338"/>
                    </a:ext>
                  </a:extLst>
                </a:gridCol>
                <a:gridCol w="824459">
                  <a:extLst>
                    <a:ext uri="{9D8B030D-6E8A-4147-A177-3AD203B41FA5}">
                      <a16:colId xmlns:a16="http://schemas.microsoft.com/office/drawing/2014/main" val="3430409958"/>
                    </a:ext>
                  </a:extLst>
                </a:gridCol>
                <a:gridCol w="1049311">
                  <a:extLst>
                    <a:ext uri="{9D8B030D-6E8A-4147-A177-3AD203B41FA5}">
                      <a16:colId xmlns:a16="http://schemas.microsoft.com/office/drawing/2014/main" val="600419596"/>
                    </a:ext>
                  </a:extLst>
                </a:gridCol>
                <a:gridCol w="933766">
                  <a:extLst>
                    <a:ext uri="{9D8B030D-6E8A-4147-A177-3AD203B41FA5}">
                      <a16:colId xmlns:a16="http://schemas.microsoft.com/office/drawing/2014/main" val="3401387601"/>
                    </a:ext>
                  </a:extLst>
                </a:gridCol>
              </a:tblGrid>
              <a:tr h="3369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Canal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Leads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Matrículas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400" b="1" u="none" strike="noStrike" cap="none" spc="0" baseline="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uFillTx/>
                          <a:sym typeface="Calibri"/>
                        </a:rPr>
                        <a:t>Conv</a:t>
                      </a:r>
                      <a:r>
                        <a:rPr lang="pt-BR" sz="1400" b="1" u="none" strike="noStrike" cap="none" spc="0" baseline="0" dirty="0">
                          <a:solidFill>
                            <a:schemeClr val="bg2">
                              <a:lumMod val="75000"/>
                            </a:schemeClr>
                          </a:solidFill>
                          <a:uFillTx/>
                          <a:sym typeface="Calibri"/>
                        </a:rPr>
                        <a:t>.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01414"/>
                  </a:ext>
                </a:extLst>
              </a:tr>
              <a:tr h="459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Fontes off-line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44.849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21.326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47,6%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03580511"/>
                  </a:ext>
                </a:extLst>
              </a:tr>
              <a:tr h="459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Tráfego direto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10.473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3.896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37,2%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69077725"/>
                  </a:ext>
                </a:extLst>
              </a:tr>
              <a:tr h="571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Pesquisa orgânica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8.505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2.111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24,8%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71640983"/>
                  </a:ext>
                </a:extLst>
              </a:tr>
              <a:tr h="459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Social orgânico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2.353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310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13,2%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10615234"/>
                  </a:ext>
                </a:extLst>
              </a:tr>
              <a:tr h="459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Pesquisa paga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13.587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1.002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7,4%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306074897"/>
                  </a:ext>
                </a:extLst>
              </a:tr>
              <a:tr h="4160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Social pago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29.588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1.169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4,0%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27246365"/>
                  </a:ext>
                </a:extLst>
              </a:tr>
              <a:tr h="459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Total: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109.735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29.872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27,2%</a:t>
                      </a:r>
                      <a:endParaRPr lang="pt-BR" sz="1400" dirty="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308225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55EF904-35E8-9317-AE34-0F5CA9AB72C7}"/>
              </a:ext>
            </a:extLst>
          </p:cNvPr>
          <p:cNvSpPr/>
          <p:nvPr/>
        </p:nvSpPr>
        <p:spPr>
          <a:xfrm>
            <a:off x="1472594" y="1808970"/>
            <a:ext cx="2251404" cy="519348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xiforma-Bold"/>
              </a:rPr>
              <a:t>Tráfego de origem</a:t>
            </a:r>
            <a:endParaRPr lang="pt-BR" dirty="0">
              <a:solidFill>
                <a:schemeClr val="bg1"/>
              </a:solidFill>
              <a:latin typeface="Axiforma-Bold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C8E3BE3-44F8-FB43-6C50-66ECB8E2C8B3}"/>
              </a:ext>
            </a:extLst>
          </p:cNvPr>
          <p:cNvSpPr/>
          <p:nvPr/>
        </p:nvSpPr>
        <p:spPr>
          <a:xfrm>
            <a:off x="4701293" y="1808970"/>
            <a:ext cx="3507698" cy="51934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xiforma-Bold"/>
              </a:rPr>
              <a:t>Taxa de Conversão (Ranking)</a:t>
            </a:r>
            <a:endParaRPr lang="pt-BR" dirty="0">
              <a:solidFill>
                <a:schemeClr val="bg2">
                  <a:lumMod val="75000"/>
                </a:schemeClr>
              </a:solidFill>
              <a:latin typeface="Axiforma-Bold"/>
            </a:endParaRPr>
          </a:p>
        </p:txBody>
      </p:sp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AF1525FE-2BC3-DEFA-5E6D-5F4D3D58A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40233"/>
              </p:ext>
            </p:extLst>
          </p:nvPr>
        </p:nvGraphicFramePr>
        <p:xfrm>
          <a:off x="8832951" y="2398429"/>
          <a:ext cx="3249120" cy="3621145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300400">
                  <a:extLst>
                    <a:ext uri="{9D8B030D-6E8A-4147-A177-3AD203B41FA5}">
                      <a16:colId xmlns:a16="http://schemas.microsoft.com/office/drawing/2014/main" val="1652608134"/>
                    </a:ext>
                  </a:extLst>
                </a:gridCol>
                <a:gridCol w="865680">
                  <a:extLst>
                    <a:ext uri="{9D8B030D-6E8A-4147-A177-3AD203B41FA5}">
                      <a16:colId xmlns:a16="http://schemas.microsoft.com/office/drawing/2014/main" val="1829731522"/>
                    </a:ext>
                  </a:extLst>
                </a:gridCol>
                <a:gridCol w="1083040">
                  <a:extLst>
                    <a:ext uri="{9D8B030D-6E8A-4147-A177-3AD203B41FA5}">
                      <a16:colId xmlns:a16="http://schemas.microsoft.com/office/drawing/2014/main" val="856446351"/>
                    </a:ext>
                  </a:extLst>
                </a:gridCol>
              </a:tblGrid>
              <a:tr h="4177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Canal</a:t>
                      </a:r>
                    </a:p>
                  </a:txBody>
                  <a:tcPr anchor="ctr">
                    <a:solidFill>
                      <a:srgbClr val="E31C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Perdidos</a:t>
                      </a:r>
                    </a:p>
                  </a:txBody>
                  <a:tcPr anchor="ctr">
                    <a:solidFill>
                      <a:srgbClr val="E31C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anchor="ctr">
                    <a:solidFill>
                      <a:srgbClr val="E31C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115338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Social pago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11.973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30,6%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47567604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Fontes off-line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10.032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25,7%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456841183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Pesquisa paga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8.315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21,3%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410825051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Pesquisa orgânica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4.050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10,4%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430117042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Tráfego direto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3.447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>
                          <a:effectLst/>
                        </a:rPr>
                        <a:t>8,8%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67253184"/>
                  </a:ext>
                </a:extLst>
              </a:tr>
              <a:tr h="3372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Total: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>
                          <a:effectLst/>
                        </a:rPr>
                        <a:t>39.099</a:t>
                      </a:r>
                      <a:endParaRPr lang="pt-BR" sz="140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>
                          <a:effectLst/>
                        </a:rPr>
                        <a:t>35,6%</a:t>
                      </a:r>
                      <a:endParaRPr lang="pt-BR" sz="1400" dirty="0">
                        <a:effectLst/>
                      </a:endParaRPr>
                    </a:p>
                  </a:txBody>
                  <a:tcPr marL="57150" marR="57150" marT="38100" marB="38100" anchor="ctr">
                    <a:solidFill>
                      <a:srgbClr val="03C9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44989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3AE8B9F-B21A-96DA-BBE7-FA147A6E28CC}"/>
              </a:ext>
            </a:extLst>
          </p:cNvPr>
          <p:cNvSpPr/>
          <p:nvPr/>
        </p:nvSpPr>
        <p:spPr>
          <a:xfrm>
            <a:off x="9528121" y="1808970"/>
            <a:ext cx="1858779" cy="519348"/>
          </a:xfrm>
          <a:prstGeom prst="roundRect">
            <a:avLst>
              <a:gd name="adj" fmla="val 50000"/>
            </a:avLst>
          </a:prstGeom>
          <a:solidFill>
            <a:srgbClr val="E31C79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xiforma-Bold"/>
              </a:rPr>
              <a:t>Perdidos</a:t>
            </a:r>
            <a:endParaRPr lang="pt-BR" dirty="0">
              <a:solidFill>
                <a:schemeClr val="bg1"/>
              </a:solidFill>
              <a:latin typeface="Axiforma-Bold"/>
            </a:endParaRPr>
          </a:p>
        </p:txBody>
      </p:sp>
    </p:spTree>
    <p:extLst>
      <p:ext uri="{BB962C8B-B14F-4D97-AF65-F5344CB8AC3E}">
        <p14:creationId xmlns:p14="http://schemas.microsoft.com/office/powerpoint/2010/main" val="33284815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5843-AFDD-D79E-25C4-C34E143B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1644E9-E0BE-233B-5A1A-CDD8C93D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Pontos de atenção: </a:t>
            </a:r>
            <a:br>
              <a:rPr lang="pt-BR" b="0" dirty="0"/>
            </a:br>
            <a:r>
              <a:rPr lang="pt-BR" sz="2400" b="0" dirty="0"/>
              <a:t>⚠️ Por que esses números não refletem a realidade?</a:t>
            </a:r>
            <a:endParaRPr lang="en-BR" sz="2400" b="0" dirty="0"/>
          </a:p>
        </p:txBody>
      </p:sp>
      <p:sp>
        <p:nvSpPr>
          <p:cNvPr id="17" name="Google Shape;460;p24">
            <a:extLst>
              <a:ext uri="{FF2B5EF4-FFF2-40B4-BE49-F238E27FC236}">
                <a16:creationId xmlns:a16="http://schemas.microsoft.com/office/drawing/2014/main" id="{97AD690A-CADB-933E-1A34-F6301B06590C}"/>
              </a:ext>
            </a:extLst>
          </p:cNvPr>
          <p:cNvSpPr txBox="1"/>
          <p:nvPr/>
        </p:nvSpPr>
        <p:spPr>
          <a:xfrm>
            <a:off x="864133" y="3677588"/>
            <a:ext cx="4728936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marR="5080" indent="12700">
              <a:lnSpc>
                <a:spcPct val="70000"/>
              </a:lnSpc>
              <a:defRPr sz="1600">
                <a:solidFill>
                  <a:srgbClr val="42424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/>
              <a:t>15,5% dos leads com última atividade comercial nula</a:t>
            </a:r>
            <a:endParaRPr dirty="0"/>
          </a:p>
        </p:txBody>
      </p:sp>
      <p:sp>
        <p:nvSpPr>
          <p:cNvPr id="18" name="Google Shape;461;p24">
            <a:extLst>
              <a:ext uri="{FF2B5EF4-FFF2-40B4-BE49-F238E27FC236}">
                <a16:creationId xmlns:a16="http://schemas.microsoft.com/office/drawing/2014/main" id="{5FE7C9C0-B271-4BB3-5A48-16328F24FECD}"/>
              </a:ext>
            </a:extLst>
          </p:cNvPr>
          <p:cNvSpPr txBox="1"/>
          <p:nvPr/>
        </p:nvSpPr>
        <p:spPr>
          <a:xfrm>
            <a:off x="864133" y="2662006"/>
            <a:ext cx="358499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marR="5080" indent="12700">
              <a:lnSpc>
                <a:spcPct val="70000"/>
              </a:lnSpc>
              <a:defRPr sz="1600">
                <a:solidFill>
                  <a:srgbClr val="42424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/>
              <a:t>com data fechamento ANTERIOR à criação</a:t>
            </a:r>
            <a:endParaRPr dirty="0"/>
          </a:p>
        </p:txBody>
      </p:sp>
      <p:sp>
        <p:nvSpPr>
          <p:cNvPr id="19" name="Google Shape;462;p24">
            <a:extLst>
              <a:ext uri="{FF2B5EF4-FFF2-40B4-BE49-F238E27FC236}">
                <a16:creationId xmlns:a16="http://schemas.microsoft.com/office/drawing/2014/main" id="{60DE636B-F639-922A-776C-864F7889ACB2}"/>
              </a:ext>
            </a:extLst>
          </p:cNvPr>
          <p:cNvSpPr txBox="1"/>
          <p:nvPr/>
        </p:nvSpPr>
        <p:spPr>
          <a:xfrm>
            <a:off x="864133" y="4801667"/>
            <a:ext cx="398972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marR="5080" indent="12700">
              <a:lnSpc>
                <a:spcPct val="70000"/>
              </a:lnSpc>
              <a:defRPr sz="1600">
                <a:solidFill>
                  <a:srgbClr val="42424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/>
              <a:t>46,9% das matrículas sem data de atividade</a:t>
            </a:r>
            <a:endParaRPr dirty="0"/>
          </a:p>
        </p:txBody>
      </p:sp>
      <p:sp>
        <p:nvSpPr>
          <p:cNvPr id="20" name="Google Shape;472;p24">
            <a:extLst>
              <a:ext uri="{FF2B5EF4-FFF2-40B4-BE49-F238E27FC236}">
                <a16:creationId xmlns:a16="http://schemas.microsoft.com/office/drawing/2014/main" id="{3D5EE9EB-9E13-B828-1151-11F164AF5EA7}"/>
              </a:ext>
            </a:extLst>
          </p:cNvPr>
          <p:cNvSpPr txBox="1"/>
          <p:nvPr/>
        </p:nvSpPr>
        <p:spPr>
          <a:xfrm>
            <a:off x="744213" y="3006646"/>
            <a:ext cx="4109648" cy="800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 defTabSz="457200">
              <a:defRPr sz="4000">
                <a:solidFill>
                  <a:srgbClr val="341578"/>
                </a:solidFill>
                <a:latin typeface="Axiforma-SemiBold"/>
                <a:ea typeface="Axiforma-SemiBold"/>
                <a:cs typeface="Axiforma-SemiBold"/>
                <a:sym typeface="Axiforma-SemiBold"/>
              </a:defRPr>
            </a:lvl1pPr>
          </a:lstStyle>
          <a:p>
            <a:r>
              <a:rPr lang="pt-BR" dirty="0">
                <a:solidFill>
                  <a:srgbClr val="5219A1"/>
                </a:solidFill>
              </a:rPr>
              <a:t>17.102 Leads</a:t>
            </a:r>
            <a:endParaRPr dirty="0">
              <a:solidFill>
                <a:srgbClr val="5219A1"/>
              </a:solidFill>
            </a:endParaRPr>
          </a:p>
        </p:txBody>
      </p:sp>
      <p:sp>
        <p:nvSpPr>
          <p:cNvPr id="21" name="Google Shape;473;p24">
            <a:extLst>
              <a:ext uri="{FF2B5EF4-FFF2-40B4-BE49-F238E27FC236}">
                <a16:creationId xmlns:a16="http://schemas.microsoft.com/office/drawing/2014/main" id="{F5BE71AD-B46B-946D-23B4-D149764D4B89}"/>
              </a:ext>
            </a:extLst>
          </p:cNvPr>
          <p:cNvSpPr txBox="1"/>
          <p:nvPr/>
        </p:nvSpPr>
        <p:spPr>
          <a:xfrm>
            <a:off x="744213" y="1594673"/>
            <a:ext cx="4654268" cy="800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>
            <a:lvl1pPr defTabSz="457200">
              <a:defRPr sz="4000">
                <a:solidFill>
                  <a:srgbClr val="341578"/>
                </a:solidFill>
                <a:latin typeface="Axiforma-SemiBold"/>
                <a:ea typeface="Axiforma-SemiBold"/>
                <a:cs typeface="Axiforma-SemiBold"/>
                <a:sym typeface="Axiforma-SemiBold"/>
              </a:defRPr>
            </a:lvl1pPr>
          </a:lstStyle>
          <a:p>
            <a:r>
              <a:rPr lang="pt-BR" dirty="0">
                <a:solidFill>
                  <a:srgbClr val="5219A1"/>
                </a:solidFill>
              </a:rPr>
              <a:t>11.585 Leads </a:t>
            </a:r>
            <a:r>
              <a:rPr lang="pt-BR" sz="2000" dirty="0">
                <a:solidFill>
                  <a:srgbClr val="5219A1"/>
                </a:solidFill>
              </a:rPr>
              <a:t>até 20/02</a:t>
            </a:r>
            <a:endParaRPr sz="2000" dirty="0">
              <a:solidFill>
                <a:srgbClr val="5219A1"/>
              </a:solidFill>
            </a:endParaRPr>
          </a:p>
        </p:txBody>
      </p:sp>
      <p:sp>
        <p:nvSpPr>
          <p:cNvPr id="22" name="Google Shape;474;p24">
            <a:extLst>
              <a:ext uri="{FF2B5EF4-FFF2-40B4-BE49-F238E27FC236}">
                <a16:creationId xmlns:a16="http://schemas.microsoft.com/office/drawing/2014/main" id="{86FE965D-CAD5-9158-36A4-7BE521284A90}"/>
              </a:ext>
            </a:extLst>
          </p:cNvPr>
          <p:cNvSpPr txBox="1"/>
          <p:nvPr/>
        </p:nvSpPr>
        <p:spPr>
          <a:xfrm>
            <a:off x="744213" y="4108429"/>
            <a:ext cx="4352909" cy="800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 defTabSz="457200">
              <a:defRPr sz="4000">
                <a:solidFill>
                  <a:srgbClr val="341578"/>
                </a:solidFill>
                <a:latin typeface="Axiforma-SemiBold"/>
                <a:ea typeface="Axiforma-SemiBold"/>
                <a:cs typeface="Axiforma-SemiBold"/>
                <a:sym typeface="Axiforma-SemiBold"/>
              </a:defRPr>
            </a:lvl1pPr>
          </a:lstStyle>
          <a:p>
            <a:r>
              <a:rPr lang="pt-BR" dirty="0">
                <a:solidFill>
                  <a:srgbClr val="5219A1"/>
                </a:solidFill>
              </a:rPr>
              <a:t>13.899 matrículas</a:t>
            </a:r>
          </a:p>
        </p:txBody>
      </p:sp>
      <p:sp>
        <p:nvSpPr>
          <p:cNvPr id="23" name="Espaço Reservado para Texto 12">
            <a:extLst>
              <a:ext uri="{FF2B5EF4-FFF2-40B4-BE49-F238E27FC236}">
                <a16:creationId xmlns:a16="http://schemas.microsoft.com/office/drawing/2014/main" id="{B00B5BD3-1910-734E-9397-8EC9ED2F58B9}"/>
              </a:ext>
            </a:extLst>
          </p:cNvPr>
          <p:cNvSpPr txBox="1"/>
          <p:nvPr/>
        </p:nvSpPr>
        <p:spPr>
          <a:xfrm>
            <a:off x="6598932" y="1837506"/>
            <a:ext cx="3584994" cy="323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</a:defRPr>
            </a:lvl1pPr>
          </a:lstStyle>
          <a:p>
            <a:r>
              <a:rPr lang="pt-BR" dirty="0"/>
              <a:t>56,2% das matrículas (16.614) aparecem como conversão em até 1 dia.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Dessas, 82,2% são do canal off-line (13.649 matrículas).Média de atividades comerciais dessas matrículas D-1: 0,92;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Se converteu em 1 dia com menos de 1 atividade, não houve jornada comercial — </a:t>
            </a:r>
            <a:r>
              <a:rPr lang="pt-BR" dirty="0">
                <a:highlight>
                  <a:srgbClr val="FFAD01"/>
                </a:highlight>
              </a:rPr>
              <a:t>o lead foi registrado apenas na hora da matrícula.</a:t>
            </a:r>
          </a:p>
          <a:p>
            <a:r>
              <a:rPr lang="pt-BR" dirty="0"/>
              <a:t>.</a:t>
            </a:r>
          </a:p>
        </p:txBody>
      </p:sp>
      <p:sp>
        <p:nvSpPr>
          <p:cNvPr id="25" name="Google Shape;462;p24">
            <a:extLst>
              <a:ext uri="{FF2B5EF4-FFF2-40B4-BE49-F238E27FC236}">
                <a16:creationId xmlns:a16="http://schemas.microsoft.com/office/drawing/2014/main" id="{C45B786B-5814-AFB7-4063-554C84BEDD86}"/>
              </a:ext>
            </a:extLst>
          </p:cNvPr>
          <p:cNvSpPr txBox="1"/>
          <p:nvPr/>
        </p:nvSpPr>
        <p:spPr>
          <a:xfrm>
            <a:off x="864133" y="5956565"/>
            <a:ext cx="398972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marR="5080" indent="12700">
              <a:lnSpc>
                <a:spcPct val="70000"/>
              </a:lnSpc>
              <a:defRPr sz="1600">
                <a:solidFill>
                  <a:srgbClr val="42424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/>
              <a:t>56,2% das matrículas converteram em D-1</a:t>
            </a:r>
            <a:endParaRPr dirty="0"/>
          </a:p>
        </p:txBody>
      </p:sp>
      <p:sp>
        <p:nvSpPr>
          <p:cNvPr id="26" name="Google Shape;474;p24">
            <a:extLst>
              <a:ext uri="{FF2B5EF4-FFF2-40B4-BE49-F238E27FC236}">
                <a16:creationId xmlns:a16="http://schemas.microsoft.com/office/drawing/2014/main" id="{B59662D6-07A7-93C9-8716-F98282B969B5}"/>
              </a:ext>
            </a:extLst>
          </p:cNvPr>
          <p:cNvSpPr txBox="1"/>
          <p:nvPr/>
        </p:nvSpPr>
        <p:spPr>
          <a:xfrm>
            <a:off x="744213" y="5263327"/>
            <a:ext cx="4352909" cy="800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 defTabSz="457200">
              <a:defRPr sz="4000">
                <a:solidFill>
                  <a:srgbClr val="341578"/>
                </a:solidFill>
                <a:latin typeface="Axiforma-SemiBold"/>
                <a:ea typeface="Axiforma-SemiBold"/>
                <a:cs typeface="Axiforma-SemiBold"/>
                <a:sym typeface="Axiforma-SemiBold"/>
              </a:defRPr>
            </a:lvl1pPr>
          </a:lstStyle>
          <a:p>
            <a:r>
              <a:rPr lang="pt-BR" dirty="0">
                <a:solidFill>
                  <a:srgbClr val="5219A1"/>
                </a:solidFill>
              </a:rPr>
              <a:t>16.614 matrículas</a:t>
            </a:r>
          </a:p>
        </p:txBody>
      </p:sp>
      <p:sp>
        <p:nvSpPr>
          <p:cNvPr id="2" name="Google Shape;473;p24">
            <a:extLst>
              <a:ext uri="{FF2B5EF4-FFF2-40B4-BE49-F238E27FC236}">
                <a16:creationId xmlns:a16="http://schemas.microsoft.com/office/drawing/2014/main" id="{F0EB3056-CB84-AC67-A879-E185A8F99DB3}"/>
              </a:ext>
            </a:extLst>
          </p:cNvPr>
          <p:cNvSpPr txBox="1"/>
          <p:nvPr/>
        </p:nvSpPr>
        <p:spPr>
          <a:xfrm>
            <a:off x="744213" y="2025514"/>
            <a:ext cx="4654268" cy="800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>
            <a:lvl1pPr defTabSz="457200">
              <a:defRPr sz="4000">
                <a:solidFill>
                  <a:srgbClr val="341578"/>
                </a:solidFill>
                <a:latin typeface="Axiforma-SemiBold"/>
                <a:ea typeface="Axiforma-SemiBold"/>
                <a:cs typeface="Axiforma-SemiBold"/>
                <a:sym typeface="Axiforma-SemiBold"/>
              </a:defRPr>
            </a:lvl1pPr>
          </a:lstStyle>
          <a:p>
            <a:r>
              <a:rPr lang="pt-BR" dirty="0">
                <a:solidFill>
                  <a:srgbClr val="5219A1"/>
                </a:solidFill>
              </a:rPr>
              <a:t>11.812 Leads </a:t>
            </a:r>
            <a:r>
              <a:rPr lang="pt-BR" sz="1800" dirty="0">
                <a:solidFill>
                  <a:srgbClr val="5219A1"/>
                </a:solidFill>
              </a:rPr>
              <a:t>até 01/03</a:t>
            </a:r>
            <a:endParaRPr sz="1800" dirty="0">
              <a:solidFill>
                <a:srgbClr val="5219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70683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70EF-4CA0-3D11-B5A6-71D82ED1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Espaço Reservado para Texto 12">
            <a:extLst>
              <a:ext uri="{FF2B5EF4-FFF2-40B4-BE49-F238E27FC236}">
                <a16:creationId xmlns:a16="http://schemas.microsoft.com/office/drawing/2014/main" id="{01590D52-34CE-C0AE-4E74-E28C9624F1C2}"/>
              </a:ext>
            </a:extLst>
          </p:cNvPr>
          <p:cNvSpPr txBox="1"/>
          <p:nvPr/>
        </p:nvSpPr>
        <p:spPr>
          <a:xfrm>
            <a:off x="1180195" y="2094475"/>
            <a:ext cx="265354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lvl1pPr>
          </a:lstStyle>
          <a:p>
            <a:r>
              <a:rPr lang="pt-BR" dirty="0"/>
              <a:t>Off-line representa 40,9% dos leads mas </a:t>
            </a:r>
            <a:r>
              <a:rPr lang="pt-BR" b="1" dirty="0"/>
              <a:t>71,8% das matrículas;</a:t>
            </a:r>
            <a:endParaRPr b="1" dirty="0"/>
          </a:p>
        </p:txBody>
      </p:sp>
      <p:sp>
        <p:nvSpPr>
          <p:cNvPr id="229" name="Espaço Reservado para Texto 12">
            <a:extLst>
              <a:ext uri="{FF2B5EF4-FFF2-40B4-BE49-F238E27FC236}">
                <a16:creationId xmlns:a16="http://schemas.microsoft.com/office/drawing/2014/main" id="{08D52334-0348-7F8B-E8EF-ACB7440E0038}"/>
              </a:ext>
            </a:extLst>
          </p:cNvPr>
          <p:cNvSpPr txBox="1"/>
          <p:nvPr/>
        </p:nvSpPr>
        <p:spPr>
          <a:xfrm>
            <a:off x="4897755" y="2051238"/>
            <a:ext cx="265354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lvl1pPr>
          </a:lstStyle>
          <a:p>
            <a:r>
              <a:rPr lang="pt-BR" dirty="0"/>
              <a:t>Social Pago representa 27,0% dos leads mas </a:t>
            </a:r>
            <a:r>
              <a:rPr lang="pt-BR" b="1" dirty="0"/>
              <a:t>apenas 3,7% das matrículas</a:t>
            </a:r>
          </a:p>
        </p:txBody>
      </p:sp>
      <p:sp>
        <p:nvSpPr>
          <p:cNvPr id="230" name="Espaço Reservado para Texto 12">
            <a:extLst>
              <a:ext uri="{FF2B5EF4-FFF2-40B4-BE49-F238E27FC236}">
                <a16:creationId xmlns:a16="http://schemas.microsoft.com/office/drawing/2014/main" id="{0D438526-5394-37AF-0A1B-89E3C52BD324}"/>
              </a:ext>
            </a:extLst>
          </p:cNvPr>
          <p:cNvSpPr txBox="1"/>
          <p:nvPr/>
        </p:nvSpPr>
        <p:spPr>
          <a:xfrm>
            <a:off x="8911976" y="2051238"/>
            <a:ext cx="2653542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lvl1pPr>
          </a:lstStyle>
          <a:p>
            <a:r>
              <a:rPr lang="pt-BR" dirty="0"/>
              <a:t>Conversão off-line 47,3% (parece excepcional) e </a:t>
            </a:r>
            <a:r>
              <a:rPr lang="pt-BR" b="1" dirty="0"/>
              <a:t>Conversão social pago 3,7% (parece péssimo)</a:t>
            </a:r>
            <a:endParaRPr b="1" dirty="0"/>
          </a:p>
        </p:txBody>
      </p:sp>
      <p:sp>
        <p:nvSpPr>
          <p:cNvPr id="243" name="CaixaDeTexto 7">
            <a:extLst>
              <a:ext uri="{FF2B5EF4-FFF2-40B4-BE49-F238E27FC236}">
                <a16:creationId xmlns:a16="http://schemas.microsoft.com/office/drawing/2014/main" id="{1227D518-E521-EE07-F1BB-78667A6CF65D}"/>
              </a:ext>
            </a:extLst>
          </p:cNvPr>
          <p:cNvSpPr txBox="1"/>
          <p:nvPr/>
        </p:nvSpPr>
        <p:spPr>
          <a:xfrm>
            <a:off x="1256296" y="6540472"/>
            <a:ext cx="6006539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2929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67A0795-BFD1-05DA-BEC8-915AB4A4632B}"/>
              </a:ext>
            </a:extLst>
          </p:cNvPr>
          <p:cNvGrpSpPr/>
          <p:nvPr/>
        </p:nvGrpSpPr>
        <p:grpSpPr>
          <a:xfrm>
            <a:off x="4126407" y="2094475"/>
            <a:ext cx="744523" cy="744523"/>
            <a:chOff x="1145195" y="3212880"/>
            <a:chExt cx="744523" cy="7445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9FDBD37-69D5-DB9D-074A-FC039902C5A6}"/>
                </a:ext>
              </a:extLst>
            </p:cNvPr>
            <p:cNvGrpSpPr/>
            <p:nvPr/>
          </p:nvGrpSpPr>
          <p:grpSpPr>
            <a:xfrm>
              <a:off x="1145195" y="3212880"/>
              <a:ext cx="744523" cy="744523"/>
              <a:chOff x="310926" y="2013835"/>
              <a:chExt cx="674433" cy="674433"/>
            </a:xfrm>
          </p:grpSpPr>
          <p:sp>
            <p:nvSpPr>
              <p:cNvPr id="10" name="Pie 9">
                <a:extLst>
                  <a:ext uri="{FF2B5EF4-FFF2-40B4-BE49-F238E27FC236}">
                    <a16:creationId xmlns:a16="http://schemas.microsoft.com/office/drawing/2014/main" id="{77A6F333-7495-906B-7404-3C33C6B3BC3A}"/>
                  </a:ext>
                </a:extLst>
              </p:cNvPr>
              <p:cNvSpPr/>
              <p:nvPr/>
            </p:nvSpPr>
            <p:spPr>
              <a:xfrm rot="5400000">
                <a:off x="310926" y="2013835"/>
                <a:ext cx="674433" cy="674433"/>
              </a:xfrm>
              <a:prstGeom prst="pie">
                <a:avLst>
                  <a:gd name="adj1" fmla="val 0"/>
                  <a:gd name="adj2" fmla="val 10821850"/>
                </a:avLst>
              </a:prstGeom>
              <a:solidFill>
                <a:srgbClr val="5219A1"/>
              </a:solidFill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BR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26CC695-3D62-FB37-CA36-59EC5FB67F70}"/>
                  </a:ext>
                </a:extLst>
              </p:cNvPr>
              <p:cNvSpPr/>
              <p:nvPr/>
            </p:nvSpPr>
            <p:spPr>
              <a:xfrm rot="10800000">
                <a:off x="398907" y="2100258"/>
                <a:ext cx="501586" cy="501586"/>
              </a:xfrm>
              <a:prstGeom prst="ellipse">
                <a:avLst/>
              </a:prstGeom>
              <a:solidFill>
                <a:srgbClr val="FFAD01"/>
              </a:solidFill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BR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p:grpSp>
        <p:pic>
          <p:nvPicPr>
            <p:cNvPr id="237" name="Google Shape;529;p27" descr="Google Shape;529;p27">
              <a:extLst>
                <a:ext uri="{FF2B5EF4-FFF2-40B4-BE49-F238E27FC236}">
                  <a16:creationId xmlns:a16="http://schemas.microsoft.com/office/drawing/2014/main" id="{E0598D50-079A-349D-9024-BC0FE9B69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2830" y="3430515"/>
              <a:ext cx="309253" cy="3092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8E06C44-46A7-3B99-44DE-D4AFA7E559A3}"/>
              </a:ext>
            </a:extLst>
          </p:cNvPr>
          <p:cNvGrpSpPr/>
          <p:nvPr/>
        </p:nvGrpSpPr>
        <p:grpSpPr>
          <a:xfrm>
            <a:off x="408847" y="2137712"/>
            <a:ext cx="744523" cy="744523"/>
            <a:chOff x="1145195" y="3212880"/>
            <a:chExt cx="744523" cy="744523"/>
          </a:xfrm>
        </p:grpSpPr>
        <p:grpSp>
          <p:nvGrpSpPr>
            <p:cNvPr id="19" name="Group 6">
              <a:extLst>
                <a:ext uri="{FF2B5EF4-FFF2-40B4-BE49-F238E27FC236}">
                  <a16:creationId xmlns:a16="http://schemas.microsoft.com/office/drawing/2014/main" id="{B0D7492E-9E52-36D1-ECD0-341B04CF35D5}"/>
                </a:ext>
              </a:extLst>
            </p:cNvPr>
            <p:cNvGrpSpPr/>
            <p:nvPr/>
          </p:nvGrpSpPr>
          <p:grpSpPr>
            <a:xfrm>
              <a:off x="1145195" y="3212880"/>
              <a:ext cx="744523" cy="744523"/>
              <a:chOff x="310926" y="2013835"/>
              <a:chExt cx="674433" cy="674433"/>
            </a:xfrm>
          </p:grpSpPr>
          <p:sp>
            <p:nvSpPr>
              <p:cNvPr id="21" name="Pie 9">
                <a:extLst>
                  <a:ext uri="{FF2B5EF4-FFF2-40B4-BE49-F238E27FC236}">
                    <a16:creationId xmlns:a16="http://schemas.microsoft.com/office/drawing/2014/main" id="{9B79D2DA-0857-EB30-156E-6766148857A6}"/>
                  </a:ext>
                </a:extLst>
              </p:cNvPr>
              <p:cNvSpPr/>
              <p:nvPr/>
            </p:nvSpPr>
            <p:spPr>
              <a:xfrm rot="5400000">
                <a:off x="310926" y="2013835"/>
                <a:ext cx="674433" cy="674433"/>
              </a:xfrm>
              <a:prstGeom prst="pie">
                <a:avLst>
                  <a:gd name="adj1" fmla="val 0"/>
                  <a:gd name="adj2" fmla="val 10821850"/>
                </a:avLst>
              </a:prstGeom>
              <a:solidFill>
                <a:srgbClr val="5219A1"/>
              </a:solidFill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BR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  <p:sp>
            <p:nvSpPr>
              <p:cNvPr id="22" name="Oval 11">
                <a:extLst>
                  <a:ext uri="{FF2B5EF4-FFF2-40B4-BE49-F238E27FC236}">
                    <a16:creationId xmlns:a16="http://schemas.microsoft.com/office/drawing/2014/main" id="{1DC5C0F0-2BA9-906C-8446-0A7DC496A6F8}"/>
                  </a:ext>
                </a:extLst>
              </p:cNvPr>
              <p:cNvSpPr/>
              <p:nvPr/>
            </p:nvSpPr>
            <p:spPr>
              <a:xfrm rot="10800000">
                <a:off x="398907" y="2100258"/>
                <a:ext cx="501586" cy="501586"/>
              </a:xfrm>
              <a:prstGeom prst="ellipse">
                <a:avLst/>
              </a:prstGeom>
              <a:solidFill>
                <a:srgbClr val="FFAD01"/>
              </a:solidFill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BR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p:grpSp>
        <p:pic>
          <p:nvPicPr>
            <p:cNvPr id="20" name="Google Shape;529;p27" descr="Google Shape;529;p27">
              <a:extLst>
                <a:ext uri="{FF2B5EF4-FFF2-40B4-BE49-F238E27FC236}">
                  <a16:creationId xmlns:a16="http://schemas.microsoft.com/office/drawing/2014/main" id="{0DC5A1B6-2B7F-679C-688B-C3857CD4D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2830" y="3430515"/>
              <a:ext cx="309253" cy="3092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916BE0C-FF9C-3360-F28C-8FAB027D384C}"/>
              </a:ext>
            </a:extLst>
          </p:cNvPr>
          <p:cNvGrpSpPr/>
          <p:nvPr/>
        </p:nvGrpSpPr>
        <p:grpSpPr>
          <a:xfrm>
            <a:off x="8140628" y="2051238"/>
            <a:ext cx="744523" cy="744523"/>
            <a:chOff x="1145195" y="3212880"/>
            <a:chExt cx="744523" cy="744523"/>
          </a:xfrm>
        </p:grpSpPr>
        <p:grpSp>
          <p:nvGrpSpPr>
            <p:cNvPr id="24" name="Group 6">
              <a:extLst>
                <a:ext uri="{FF2B5EF4-FFF2-40B4-BE49-F238E27FC236}">
                  <a16:creationId xmlns:a16="http://schemas.microsoft.com/office/drawing/2014/main" id="{6C25152C-14F0-9962-73C1-DF57DC4A36B5}"/>
                </a:ext>
              </a:extLst>
            </p:cNvPr>
            <p:cNvGrpSpPr/>
            <p:nvPr/>
          </p:nvGrpSpPr>
          <p:grpSpPr>
            <a:xfrm>
              <a:off x="1145195" y="3212880"/>
              <a:ext cx="744523" cy="744523"/>
              <a:chOff x="310926" y="2013835"/>
              <a:chExt cx="674433" cy="674433"/>
            </a:xfrm>
          </p:grpSpPr>
          <p:sp>
            <p:nvSpPr>
              <p:cNvPr id="26" name="Pie 9">
                <a:extLst>
                  <a:ext uri="{FF2B5EF4-FFF2-40B4-BE49-F238E27FC236}">
                    <a16:creationId xmlns:a16="http://schemas.microsoft.com/office/drawing/2014/main" id="{2BD5BE08-6C56-A502-96F5-1C192385048D}"/>
                  </a:ext>
                </a:extLst>
              </p:cNvPr>
              <p:cNvSpPr/>
              <p:nvPr/>
            </p:nvSpPr>
            <p:spPr>
              <a:xfrm rot="5400000">
                <a:off x="310926" y="2013835"/>
                <a:ext cx="674433" cy="674433"/>
              </a:xfrm>
              <a:prstGeom prst="pie">
                <a:avLst>
                  <a:gd name="adj1" fmla="val 0"/>
                  <a:gd name="adj2" fmla="val 10821850"/>
                </a:avLst>
              </a:prstGeom>
              <a:solidFill>
                <a:srgbClr val="5219A1"/>
              </a:solidFill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BR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  <p:sp>
            <p:nvSpPr>
              <p:cNvPr id="27" name="Oval 11">
                <a:extLst>
                  <a:ext uri="{FF2B5EF4-FFF2-40B4-BE49-F238E27FC236}">
                    <a16:creationId xmlns:a16="http://schemas.microsoft.com/office/drawing/2014/main" id="{D219482A-447E-DB9A-31EA-3FCD70545A8F}"/>
                  </a:ext>
                </a:extLst>
              </p:cNvPr>
              <p:cNvSpPr/>
              <p:nvPr/>
            </p:nvSpPr>
            <p:spPr>
              <a:xfrm rot="10800000">
                <a:off x="398907" y="2100258"/>
                <a:ext cx="501586" cy="501586"/>
              </a:xfrm>
              <a:prstGeom prst="ellipse">
                <a:avLst/>
              </a:prstGeom>
              <a:solidFill>
                <a:srgbClr val="FFAD01"/>
              </a:solidFill>
              <a:ln w="12700" cap="flat">
                <a:noFill/>
                <a:prstDash val="solid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BR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p:grpSp>
        <p:pic>
          <p:nvPicPr>
            <p:cNvPr id="25" name="Google Shape;529;p27" descr="Google Shape;529;p27">
              <a:extLst>
                <a:ext uri="{FF2B5EF4-FFF2-40B4-BE49-F238E27FC236}">
                  <a16:creationId xmlns:a16="http://schemas.microsoft.com/office/drawing/2014/main" id="{ED92CCD3-C13C-398E-9401-BC9A70837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2830" y="3430515"/>
              <a:ext cx="309253" cy="3092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4" name="Espaço Reservado para Texto 12">
            <a:extLst>
              <a:ext uri="{FF2B5EF4-FFF2-40B4-BE49-F238E27FC236}">
                <a16:creationId xmlns:a16="http://schemas.microsoft.com/office/drawing/2014/main" id="{BE2F93FC-3D46-1086-9D10-208FC9C20510}"/>
              </a:ext>
            </a:extLst>
          </p:cNvPr>
          <p:cNvSpPr txBox="1"/>
          <p:nvPr/>
        </p:nvSpPr>
        <p:spPr>
          <a:xfrm>
            <a:off x="1576735" y="3650847"/>
            <a:ext cx="9754484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dirty="0"/>
              <a:t>Se off-line converte 47% e é responsável por 72% das matrículas, por que não investir tudo lá?</a:t>
            </a:r>
            <a:br>
              <a:rPr lang="pt-BR" dirty="0"/>
            </a:br>
            <a:br>
              <a:rPr lang="pt-BR" dirty="0"/>
            </a:br>
            <a:r>
              <a:rPr lang="pt-BR" dirty="0"/>
              <a:t>Os 44.849 leads off-line no sistema são apenas os que a secretária registrou — a maioria porque converteu.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Os leads off-line que NÃO convertem nunca entram no Fluxo ou ficam sem serem atualizados, congelados em qualificação. Por isso a conversão parece 47%.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A0074AC1-BCC3-37C7-B841-52B5802BB11C}"/>
              </a:ext>
            </a:extLst>
          </p:cNvPr>
          <p:cNvSpPr txBox="1">
            <a:spLocks/>
          </p:cNvSpPr>
          <p:nvPr/>
        </p:nvSpPr>
        <p:spPr>
          <a:xfrm>
            <a:off x="1196177" y="282714"/>
            <a:ext cx="10515600" cy="66278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0" baseline="0">
                <a:solidFill>
                  <a:srgbClr val="5219A1"/>
                </a:solidFill>
                <a:uFillTx/>
                <a:latin typeface="Axiforma SemiBold" pitchFamily="2" charset="77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r>
              <a:rPr lang="pt-BR" dirty="0"/>
              <a:t>Pontos de atenção: </a:t>
            </a:r>
            <a:br>
              <a:rPr lang="pt-BR" b="0" dirty="0"/>
            </a:br>
            <a:r>
              <a:rPr lang="pt-BR" sz="2400" b="0" dirty="0"/>
              <a:t>⚠️ Por que esses números não refletem a realidade?</a:t>
            </a:r>
            <a:endParaRPr lang="en-BR" sz="2400" b="0" dirty="0"/>
          </a:p>
        </p:txBody>
      </p:sp>
    </p:spTree>
    <p:extLst>
      <p:ext uri="{BB962C8B-B14F-4D97-AF65-F5344CB8AC3E}">
        <p14:creationId xmlns:p14="http://schemas.microsoft.com/office/powerpoint/2010/main" val="318726656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12D2-D0AF-6732-8000-B917B44B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EDE0CF4C-A277-CA3D-C8D3-2B942E06DE97}"/>
              </a:ext>
            </a:extLst>
          </p:cNvPr>
          <p:cNvSpPr/>
          <p:nvPr/>
        </p:nvSpPr>
        <p:spPr>
          <a:xfrm rot="16200000">
            <a:off x="-208485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AFB1F2-2BAE-72AE-6C2D-7358910F6236}"/>
              </a:ext>
            </a:extLst>
          </p:cNvPr>
          <p:cNvSpPr/>
          <p:nvPr/>
        </p:nvSpPr>
        <p:spPr>
          <a:xfrm>
            <a:off x="6536272" y="921084"/>
            <a:ext cx="5235089" cy="5235089"/>
          </a:xfrm>
          <a:prstGeom prst="ellipse">
            <a:avLst/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EBC8BDF0-12EB-B14D-F983-5B12C975A80D}"/>
              </a:ext>
            </a:extLst>
          </p:cNvPr>
          <p:cNvSpPr txBox="1"/>
          <p:nvPr/>
        </p:nvSpPr>
        <p:spPr>
          <a:xfrm>
            <a:off x="7620311" y="2921169"/>
            <a:ext cx="3180254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lnSpc>
                <a:spcPct val="70000"/>
              </a:lnSpc>
              <a:defRPr sz="3000">
                <a:solidFill>
                  <a:srgbClr val="F5BF51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pPr>
              <a:lnSpc>
                <a:spcPct val="100000"/>
              </a:lnSpc>
            </a:pPr>
            <a:r>
              <a:rPr lang="pt-BR" b="1" dirty="0"/>
              <a:t>Corte por recência:</a:t>
            </a:r>
          </a:p>
          <a:p>
            <a:pPr>
              <a:lnSpc>
                <a:spcPct val="100000"/>
              </a:lnSpc>
            </a:pPr>
            <a:r>
              <a:rPr lang="pt-BR" b="1" dirty="0"/>
              <a:t>Ciclo 26.1</a:t>
            </a:r>
          </a:p>
        </p:txBody>
      </p:sp>
      <p:pic>
        <p:nvPicPr>
          <p:cNvPr id="13" name="Imagem 12" descr="Pessoas posando para foto&#10;&#10;O conteúdo gerado por IA pode estar incorreto.">
            <a:extLst>
              <a:ext uri="{FF2B5EF4-FFF2-40B4-BE49-F238E27FC236}">
                <a16:creationId xmlns:a16="http://schemas.microsoft.com/office/drawing/2014/main" id="{48513BC3-EE53-C91C-F592-7312B7F7DC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6" r="10823" b="483"/>
          <a:stretch>
            <a:fillRect/>
          </a:stretch>
        </p:blipFill>
        <p:spPr>
          <a:xfrm>
            <a:off x="280919" y="733705"/>
            <a:ext cx="5396400" cy="5370243"/>
          </a:xfrm>
          <a:custGeom>
            <a:avLst/>
            <a:gdLst>
              <a:gd name="csX0" fmla="*/ 2342213 w 5396400"/>
              <a:gd name="csY0" fmla="*/ 0 h 5370243"/>
              <a:gd name="csX1" fmla="*/ 3054187 w 5396400"/>
              <a:gd name="csY1" fmla="*/ 0 h 5370243"/>
              <a:gd name="csX2" fmla="*/ 3241982 w 5396400"/>
              <a:gd name="csY2" fmla="*/ 28661 h 5370243"/>
              <a:gd name="csX3" fmla="*/ 5396400 w 5396400"/>
              <a:gd name="csY3" fmla="*/ 2672043 h 5370243"/>
              <a:gd name="csX4" fmla="*/ 2698200 w 5396400"/>
              <a:gd name="csY4" fmla="*/ 5370243 h 5370243"/>
              <a:gd name="csX5" fmla="*/ 0 w 5396400"/>
              <a:gd name="csY5" fmla="*/ 2672043 h 5370243"/>
              <a:gd name="csX6" fmla="*/ 2154419 w 5396400"/>
              <a:gd name="csY6" fmla="*/ 28661 h 5370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96400" h="5370243">
                <a:moveTo>
                  <a:pt x="2342213" y="0"/>
                </a:moveTo>
                <a:lnTo>
                  <a:pt x="3054187" y="0"/>
                </a:lnTo>
                <a:lnTo>
                  <a:pt x="3241982" y="28661"/>
                </a:lnTo>
                <a:cubicBezTo>
                  <a:pt x="4471506" y="280258"/>
                  <a:pt x="5396400" y="1368140"/>
                  <a:pt x="5396400" y="2672043"/>
                </a:cubicBezTo>
                <a:cubicBezTo>
                  <a:pt x="5396400" y="4162218"/>
                  <a:pt x="4188375" y="5370243"/>
                  <a:pt x="2698200" y="5370243"/>
                </a:cubicBezTo>
                <a:cubicBezTo>
                  <a:pt x="1208025" y="5370243"/>
                  <a:pt x="0" y="4162218"/>
                  <a:pt x="0" y="2672043"/>
                </a:cubicBezTo>
                <a:cubicBezTo>
                  <a:pt x="0" y="1368140"/>
                  <a:pt x="924894" y="280258"/>
                  <a:pt x="2154419" y="286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404485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23A3-A3EA-E415-CF85-2D743CA1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9E476643-E8BC-8AE2-EB2E-F2568E3AF826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FC49E6BA-2EFD-0AC8-4783-43C0AD28B30F}"/>
              </a:ext>
            </a:extLst>
          </p:cNvPr>
          <p:cNvSpPr txBox="1"/>
          <p:nvPr/>
        </p:nvSpPr>
        <p:spPr>
          <a:xfrm>
            <a:off x="400516" y="242906"/>
            <a:ext cx="28506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O que é recência?</a:t>
            </a:r>
          </a:p>
        </p:txBody>
      </p:sp>
      <p:sp>
        <p:nvSpPr>
          <p:cNvPr id="457" name="CaixaDeTexto 15">
            <a:extLst>
              <a:ext uri="{FF2B5EF4-FFF2-40B4-BE49-F238E27FC236}">
                <a16:creationId xmlns:a16="http://schemas.microsoft.com/office/drawing/2014/main" id="{2A8B7E90-FA6D-F4A0-0981-367D51F70F00}"/>
              </a:ext>
            </a:extLst>
          </p:cNvPr>
          <p:cNvSpPr txBox="1"/>
          <p:nvPr/>
        </p:nvSpPr>
        <p:spPr>
          <a:xfrm>
            <a:off x="512230" y="6493107"/>
            <a:ext cx="2627192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04836578-8386-3677-3690-82F4A0AA42F0}"/>
              </a:ext>
            </a:extLst>
          </p:cNvPr>
          <p:cNvSpPr txBox="1"/>
          <p:nvPr/>
        </p:nvSpPr>
        <p:spPr>
          <a:xfrm>
            <a:off x="383291" y="1410355"/>
            <a:ext cx="2756131" cy="3293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Quão recente foi a última atividade comercial do lead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Fórmula: data de ultima atividade menos a data de criação.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Por que: </a:t>
            </a:r>
            <a:r>
              <a:rPr lang="pt-BR" dirty="0"/>
              <a:t>O campo "Data de criação" tem erros. O campo "Última atividade" mostra quando DE FATO houve trabalho comercial.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3C0400B4-3871-B4F5-78DE-7F581F38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CD83BCB-D8D7-D354-2E72-F60A7B9FCB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039471"/>
            <a:ext cx="1857078" cy="230185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3225680-6F63-E03E-72F7-55D60AA0C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581036"/>
              </p:ext>
            </p:extLst>
          </p:nvPr>
        </p:nvGraphicFramePr>
        <p:xfrm>
          <a:off x="4227224" y="983635"/>
          <a:ext cx="7180290" cy="85344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436058">
                  <a:extLst>
                    <a:ext uri="{9D8B030D-6E8A-4147-A177-3AD203B41FA5}">
                      <a16:colId xmlns:a16="http://schemas.microsoft.com/office/drawing/2014/main" val="1857143892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3120987926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1053860102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1523782133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3360947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Lead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Data Criação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Última Atividade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Idade Oficial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Idade Real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676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01/Jan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15/Jan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14 dias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14 dias 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114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João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15/Jan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15/Jan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D-1 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D-1 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336584"/>
                  </a:ext>
                </a:extLst>
              </a:tr>
            </a:tbl>
          </a:graphicData>
        </a:graphic>
      </p:graphicFrame>
      <p:sp>
        <p:nvSpPr>
          <p:cNvPr id="7" name="Espaço Reservado para Texto 12">
            <a:extLst>
              <a:ext uri="{FF2B5EF4-FFF2-40B4-BE49-F238E27FC236}">
                <a16:creationId xmlns:a16="http://schemas.microsoft.com/office/drawing/2014/main" id="{471DB892-1247-61F8-4D14-D2332C689A27}"/>
              </a:ext>
            </a:extLst>
          </p:cNvPr>
          <p:cNvSpPr txBox="1"/>
          <p:nvPr/>
        </p:nvSpPr>
        <p:spPr>
          <a:xfrm>
            <a:off x="4227224" y="2016377"/>
            <a:ext cx="7180290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dirty="0"/>
              <a:t>João parece D-1 porque foi criado no mesmo dia da matrícula — mas o atendimento pode ter acontecido semanas antes, só não foi registrado no sistema.</a:t>
            </a:r>
            <a:endParaRPr dirty="0"/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249B2F6-7D5D-E897-2AEE-2DBD85861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920739"/>
              </p:ext>
            </p:extLst>
          </p:nvPr>
        </p:nvGraphicFramePr>
        <p:xfrm>
          <a:off x="4227224" y="2933637"/>
          <a:ext cx="7180290" cy="213360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436058">
                  <a:extLst>
                    <a:ext uri="{9D8B030D-6E8A-4147-A177-3AD203B41FA5}">
                      <a16:colId xmlns:a16="http://schemas.microsoft.com/office/drawing/2014/main" val="3222794164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1093999987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4138228532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996408698"/>
                    </a:ext>
                  </a:extLst>
                </a:gridCol>
                <a:gridCol w="1436058">
                  <a:extLst>
                    <a:ext uri="{9D8B030D-6E8A-4147-A177-3AD203B41FA5}">
                      <a16:colId xmlns:a16="http://schemas.microsoft.com/office/drawing/2014/main" val="2284518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Faixa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Total Leads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% Atendidos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Média </a:t>
                      </a:r>
                      <a:r>
                        <a:rPr lang="pt-BR" sz="1400" dirty="0" err="1"/>
                        <a:t>Ativ</a:t>
                      </a:r>
                      <a:endParaRPr lang="pt-BR" sz="1400" dirty="0"/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Confiabilidade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94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38,9%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1,9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🔴 Baixa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56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42,7%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🟡 Média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9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8-30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1.724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68,6%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✅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07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31-60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4.485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87,6%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✅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17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61-90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1.943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82,3%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✅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4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&gt; 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88,7%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✅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911386"/>
                  </a:ext>
                </a:extLst>
              </a:tr>
            </a:tbl>
          </a:graphicData>
        </a:graphic>
      </p:graphicFrame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3A485FD-A3EF-4E1B-AEA5-649C36122884}"/>
              </a:ext>
            </a:extLst>
          </p:cNvPr>
          <p:cNvSpPr txBox="1"/>
          <p:nvPr/>
        </p:nvSpPr>
        <p:spPr>
          <a:xfrm>
            <a:off x="4227224" y="5399722"/>
            <a:ext cx="7180290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sz="1600" b="1" dirty="0">
                <a:sym typeface="Axiforma-Book"/>
              </a:rPr>
              <a:t>A partir de 8 dias, a taxa de atendimento estabiliza em +60%</a:t>
            </a:r>
            <a:r>
              <a:rPr lang="pt-BR" sz="1600" dirty="0">
                <a:sym typeface="Axiforma-Book"/>
              </a:rPr>
              <a:t> — indica jornada comercial real.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C3C4B3D-B59B-C54B-5216-05FE91E7B870}"/>
              </a:ext>
            </a:extLst>
          </p:cNvPr>
          <p:cNvSpPr txBox="1"/>
          <p:nvPr/>
        </p:nvSpPr>
        <p:spPr>
          <a:xfrm>
            <a:off x="8019735" y="2602097"/>
            <a:ext cx="6115986" cy="276999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57200">
              <a:spcBef>
                <a:spcPts val="1500"/>
              </a:spcBef>
              <a:defRPr sz="1600" b="1">
                <a:solidFill>
                  <a:srgbClr val="3B4044"/>
                </a:solidFill>
                <a:latin typeface="Axiforma-Book"/>
                <a:ea typeface="Axiforma-Book"/>
                <a:cs typeface="Axiforma-Book"/>
              </a:defRPr>
            </a:lvl1pPr>
          </a:lstStyle>
          <a:p>
            <a:r>
              <a:rPr lang="pt-BR" sz="1200" i="1" dirty="0"/>
              <a:t>2.607 leads descartados por erro de preenchimento.</a:t>
            </a:r>
          </a:p>
        </p:txBody>
      </p:sp>
    </p:spTree>
    <p:extLst>
      <p:ext uri="{BB962C8B-B14F-4D97-AF65-F5344CB8AC3E}">
        <p14:creationId xmlns:p14="http://schemas.microsoft.com/office/powerpoint/2010/main" val="254699289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0772-E9BC-F8D8-C626-7A0E2092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467E4CFE-C858-17C1-2E63-2D9BE5979FC7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07832768-92F1-31E1-173B-C372DC930CF6}"/>
              </a:ext>
            </a:extLst>
          </p:cNvPr>
          <p:cNvSpPr txBox="1"/>
          <p:nvPr/>
        </p:nvSpPr>
        <p:spPr>
          <a:xfrm>
            <a:off x="400516" y="616652"/>
            <a:ext cx="2850621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Como ter dados confiáveis para projeções?</a:t>
            </a:r>
          </a:p>
        </p:txBody>
      </p:sp>
      <p:sp>
        <p:nvSpPr>
          <p:cNvPr id="457" name="CaixaDeTexto 15">
            <a:extLst>
              <a:ext uri="{FF2B5EF4-FFF2-40B4-BE49-F238E27FC236}">
                <a16:creationId xmlns:a16="http://schemas.microsoft.com/office/drawing/2014/main" id="{3DBA9DD5-D436-66A3-506F-26C2177A1F21}"/>
              </a:ext>
            </a:extLst>
          </p:cNvPr>
          <p:cNvSpPr txBox="1"/>
          <p:nvPr/>
        </p:nvSpPr>
        <p:spPr>
          <a:xfrm>
            <a:off x="512230" y="6493107"/>
            <a:ext cx="2627192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A9796F00-7003-2022-6028-CFBBD206B41F}"/>
              </a:ext>
            </a:extLst>
          </p:cNvPr>
          <p:cNvSpPr txBox="1"/>
          <p:nvPr/>
        </p:nvSpPr>
        <p:spPr>
          <a:xfrm>
            <a:off x="447761" y="2347751"/>
            <a:ext cx="2756131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Não podemos confiar em leads D-1 porque a maioria foi registrada </a:t>
            </a:r>
            <a:r>
              <a:rPr lang="pt-BR" sz="1600" b="1" dirty="0">
                <a:sym typeface="Avenir Light"/>
              </a:rPr>
              <a:t>depois</a:t>
            </a:r>
            <a:r>
              <a:rPr lang="pt-BR" sz="1600" dirty="0">
                <a:sym typeface="Avenir Light"/>
              </a:rPr>
              <a:t> de já ter convertido.</a:t>
            </a: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79C24F85-F557-3BC9-B2E7-152FDBFC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F79F000-52FF-3A13-AD3D-854C2C1C08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039471"/>
            <a:ext cx="1857078" cy="2301850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C8C6BF6-1500-B541-CA61-7B990D36F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899850"/>
              </p:ext>
            </p:extLst>
          </p:nvPr>
        </p:nvGraphicFramePr>
        <p:xfrm>
          <a:off x="3690229" y="2293991"/>
          <a:ext cx="8293840" cy="1385135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866781">
                  <a:extLst>
                    <a:ext uri="{9D8B030D-6E8A-4147-A177-3AD203B41FA5}">
                      <a16:colId xmlns:a16="http://schemas.microsoft.com/office/drawing/2014/main" val="3721345374"/>
                    </a:ext>
                  </a:extLst>
                </a:gridCol>
                <a:gridCol w="1439056">
                  <a:extLst>
                    <a:ext uri="{9D8B030D-6E8A-4147-A177-3AD203B41FA5}">
                      <a16:colId xmlns:a16="http://schemas.microsoft.com/office/drawing/2014/main" val="842449884"/>
                    </a:ext>
                  </a:extLst>
                </a:gridCol>
                <a:gridCol w="1558977">
                  <a:extLst>
                    <a:ext uri="{9D8B030D-6E8A-4147-A177-3AD203B41FA5}">
                      <a16:colId xmlns:a16="http://schemas.microsoft.com/office/drawing/2014/main" val="2453660555"/>
                    </a:ext>
                  </a:extLst>
                </a:gridCol>
                <a:gridCol w="4429026">
                  <a:extLst>
                    <a:ext uri="{9D8B030D-6E8A-4147-A177-3AD203B41FA5}">
                      <a16:colId xmlns:a16="http://schemas.microsoft.com/office/drawing/2014/main" val="3801220223"/>
                    </a:ext>
                  </a:extLst>
                </a:gridCol>
              </a:tblGrid>
              <a:tr h="4192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/>
                        <a:t>Faixa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/>
                        <a:t>% Matrículas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/>
                        <a:t>Média </a:t>
                      </a:r>
                      <a:r>
                        <a:rPr lang="pt-BR" sz="1600" dirty="0" err="1"/>
                        <a:t>Ativ</a:t>
                      </a:r>
                      <a:endParaRPr lang="pt-BR" sz="1600" dirty="0"/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/>
                        <a:t>Diagnóstico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95015"/>
                  </a:ext>
                </a:extLst>
              </a:tr>
              <a:tr h="482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67,6%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0,39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🔴 Registro retroativo — lead criado na hora da matrícula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020468"/>
                  </a:ext>
                </a:extLst>
              </a:tr>
              <a:tr h="482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10,8%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🟡 Ainda contaminado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844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138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98F2-AF48-41E7-7845-88914BCC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19568F5A-84E3-3010-E46D-B80808CA96D4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7663D69C-2AEF-2DD4-FD89-9F9318BD1935}"/>
              </a:ext>
            </a:extLst>
          </p:cNvPr>
          <p:cNvSpPr txBox="1"/>
          <p:nvPr/>
        </p:nvSpPr>
        <p:spPr>
          <a:xfrm>
            <a:off x="400516" y="616652"/>
            <a:ext cx="2850621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Como ter dados confiáveis para projeções?</a:t>
            </a:r>
          </a:p>
        </p:txBody>
      </p:sp>
      <p:sp>
        <p:nvSpPr>
          <p:cNvPr id="457" name="CaixaDeTexto 15">
            <a:extLst>
              <a:ext uri="{FF2B5EF4-FFF2-40B4-BE49-F238E27FC236}">
                <a16:creationId xmlns:a16="http://schemas.microsoft.com/office/drawing/2014/main" id="{E00F5E82-7B77-A9B7-0C0F-8017EB130EC4}"/>
              </a:ext>
            </a:extLst>
          </p:cNvPr>
          <p:cNvSpPr txBox="1"/>
          <p:nvPr/>
        </p:nvSpPr>
        <p:spPr>
          <a:xfrm>
            <a:off x="512230" y="6493107"/>
            <a:ext cx="2627192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8B5EB99A-DA00-D058-BE48-070DF4307CF0}"/>
              </a:ext>
            </a:extLst>
          </p:cNvPr>
          <p:cNvSpPr txBox="1"/>
          <p:nvPr/>
        </p:nvSpPr>
        <p:spPr>
          <a:xfrm>
            <a:off x="447761" y="2347751"/>
            <a:ext cx="275613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Usar a faixa 8 a 30 dias como base para projeções</a:t>
            </a: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1A52CA97-A80F-7357-251A-06A16840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585CC2C-3A3C-CD7F-6A64-13D3AC261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039471"/>
            <a:ext cx="1857078" cy="230185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A8D635F-F08C-5738-75D5-DD34E0057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9120"/>
              </p:ext>
            </p:extLst>
          </p:nvPr>
        </p:nvGraphicFramePr>
        <p:xfrm>
          <a:off x="3690230" y="1195165"/>
          <a:ext cx="8293835" cy="173736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871121">
                  <a:extLst>
                    <a:ext uri="{9D8B030D-6E8A-4147-A177-3AD203B41FA5}">
                      <a16:colId xmlns:a16="http://schemas.microsoft.com/office/drawing/2014/main" val="2871085290"/>
                    </a:ext>
                  </a:extLst>
                </a:gridCol>
                <a:gridCol w="1446413">
                  <a:extLst>
                    <a:ext uri="{9D8B030D-6E8A-4147-A177-3AD203B41FA5}">
                      <a16:colId xmlns:a16="http://schemas.microsoft.com/office/drawing/2014/main" val="2501431"/>
                    </a:ext>
                  </a:extLst>
                </a:gridCol>
                <a:gridCol w="1658767">
                  <a:extLst>
                    <a:ext uri="{9D8B030D-6E8A-4147-A177-3AD203B41FA5}">
                      <a16:colId xmlns:a16="http://schemas.microsoft.com/office/drawing/2014/main" val="864594037"/>
                    </a:ext>
                  </a:extLst>
                </a:gridCol>
                <a:gridCol w="1658767">
                  <a:extLst>
                    <a:ext uri="{9D8B030D-6E8A-4147-A177-3AD203B41FA5}">
                      <a16:colId xmlns:a16="http://schemas.microsoft.com/office/drawing/2014/main" val="3974996292"/>
                    </a:ext>
                  </a:extLst>
                </a:gridCol>
                <a:gridCol w="1658767">
                  <a:extLst>
                    <a:ext uri="{9D8B030D-6E8A-4147-A177-3AD203B41FA5}">
                      <a16:colId xmlns:a16="http://schemas.microsoft.com/office/drawing/2014/main" val="35653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Critério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D-1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2-7 dias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8-30 dias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31+ dias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Taxa de atendimento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69%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87%+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746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Média de atividades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5,3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7,4+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47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% com atividade recente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100%*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19,6%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6,7%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3,5% ou menos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37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Confiabilidade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🔴 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🟡 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🟢 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🟢 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549206"/>
                  </a:ext>
                </a:extLst>
              </a:tr>
            </a:tbl>
          </a:graphicData>
        </a:graphic>
      </p:graphicFrame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8B39C82C-3197-9950-4D9A-D0372987371C}"/>
              </a:ext>
            </a:extLst>
          </p:cNvPr>
          <p:cNvSpPr txBox="1"/>
          <p:nvPr/>
        </p:nvSpPr>
        <p:spPr>
          <a:xfrm>
            <a:off x="4422099" y="3244849"/>
            <a:ext cx="6506691" cy="2639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Font typeface="+mj-lt"/>
              <a:buAutoNum type="arabicPeriod"/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dirty="0"/>
              <a:t>Passou tempo suficiente para o lead ter uma jornada comercial real (contato, qualificação, visita)</a:t>
            </a:r>
          </a:p>
          <a:p>
            <a:pPr marL="342900" indent="-342900" defTabSz="457200">
              <a:spcBef>
                <a:spcPts val="1500"/>
              </a:spcBef>
              <a:buFont typeface="+mj-lt"/>
              <a:buAutoNum type="arabicPeriod"/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dirty="0"/>
              <a:t>Taxa de atendimento estável (+60%) — indica que o processo comercial está funcionando normalmente</a:t>
            </a:r>
          </a:p>
          <a:p>
            <a:pPr marL="342900" indent="-342900" defTabSz="457200">
              <a:spcBef>
                <a:spcPts val="1500"/>
              </a:spcBef>
              <a:buFont typeface="+mj-lt"/>
              <a:buAutoNum type="arabicPeriod"/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dirty="0"/>
              <a:t>Média de 5+ atividades — condizente com o esforço necessário para converter</a:t>
            </a:r>
          </a:p>
          <a:p>
            <a:pPr marL="342900" indent="-342900" defTabSz="457200">
              <a:spcBef>
                <a:spcPts val="1500"/>
              </a:spcBef>
              <a:buFont typeface="+mj-lt"/>
              <a:buAutoNum type="arabicPeriod"/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dirty="0"/>
              <a:t>Menos contaminação de registros retroativos — quem está aqui foi registrado no momento certo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71344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D23F-9A65-1266-C411-BD6CF931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81CC07FF-F62D-96ED-22BC-ECAB72C0E3C9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22FE73B2-004E-DDA8-2098-97B0E40B0B82}"/>
              </a:ext>
            </a:extLst>
          </p:cNvPr>
          <p:cNvSpPr txBox="1"/>
          <p:nvPr/>
        </p:nvSpPr>
        <p:spPr>
          <a:xfrm>
            <a:off x="400516" y="616652"/>
            <a:ext cx="28506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Perspectiva de matriculas </a:t>
            </a:r>
          </a:p>
        </p:txBody>
      </p:sp>
      <p:sp>
        <p:nvSpPr>
          <p:cNvPr id="457" name="CaixaDeTexto 15">
            <a:extLst>
              <a:ext uri="{FF2B5EF4-FFF2-40B4-BE49-F238E27FC236}">
                <a16:creationId xmlns:a16="http://schemas.microsoft.com/office/drawing/2014/main" id="{3B204496-2910-C988-E908-178E0FAF0BDB}"/>
              </a:ext>
            </a:extLst>
          </p:cNvPr>
          <p:cNvSpPr txBox="1"/>
          <p:nvPr/>
        </p:nvSpPr>
        <p:spPr>
          <a:xfrm>
            <a:off x="512230" y="6493107"/>
            <a:ext cx="2627192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2B005557-9C45-026C-0FD0-E15417786E66}"/>
              </a:ext>
            </a:extLst>
          </p:cNvPr>
          <p:cNvSpPr txBox="1"/>
          <p:nvPr/>
        </p:nvSpPr>
        <p:spPr>
          <a:xfrm>
            <a:off x="400516" y="1784101"/>
            <a:ext cx="275613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Quando corrigimos a idade do lead pela última atividade: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D-1 perde metade do volume — eram leads criados na hora da matrícula;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8-30 dias se torna a faixa com maior escala (28,3%).</a:t>
            </a: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D12EB171-E2CD-9A31-F787-98F6A3D1B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881FFC4-409D-B719-87AE-4DC774391A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039471"/>
            <a:ext cx="1857078" cy="2301850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1907B3F-8FB5-DD56-D811-F55FA31C7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378740"/>
              </p:ext>
            </p:extLst>
          </p:nvPr>
        </p:nvGraphicFramePr>
        <p:xfrm>
          <a:off x="3901743" y="1156519"/>
          <a:ext cx="8006766" cy="286512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924466">
                  <a:extLst>
                    <a:ext uri="{9D8B030D-6E8A-4147-A177-3AD203B41FA5}">
                      <a16:colId xmlns:a16="http://schemas.microsoft.com/office/drawing/2014/main" val="3186096375"/>
                    </a:ext>
                  </a:extLst>
                </a:gridCol>
                <a:gridCol w="1744456">
                  <a:extLst>
                    <a:ext uri="{9D8B030D-6E8A-4147-A177-3AD203B41FA5}">
                      <a16:colId xmlns:a16="http://schemas.microsoft.com/office/drawing/2014/main" val="1867578321"/>
                    </a:ext>
                  </a:extLst>
                </a:gridCol>
                <a:gridCol w="924417">
                  <a:extLst>
                    <a:ext uri="{9D8B030D-6E8A-4147-A177-3AD203B41FA5}">
                      <a16:colId xmlns:a16="http://schemas.microsoft.com/office/drawing/2014/main" val="1203739822"/>
                    </a:ext>
                  </a:extLst>
                </a:gridCol>
                <a:gridCol w="1744505">
                  <a:extLst>
                    <a:ext uri="{9D8B030D-6E8A-4147-A177-3AD203B41FA5}">
                      <a16:colId xmlns:a16="http://schemas.microsoft.com/office/drawing/2014/main" val="3258908740"/>
                    </a:ext>
                  </a:extLst>
                </a:gridCol>
                <a:gridCol w="698268">
                  <a:extLst>
                    <a:ext uri="{9D8B030D-6E8A-4147-A177-3AD203B41FA5}">
                      <a16:colId xmlns:a16="http://schemas.microsoft.com/office/drawing/2014/main" val="926362910"/>
                    </a:ext>
                  </a:extLst>
                </a:gridCol>
                <a:gridCol w="1970654">
                  <a:extLst>
                    <a:ext uri="{9D8B030D-6E8A-4147-A177-3AD203B41FA5}">
                      <a16:colId xmlns:a16="http://schemas.microsoft.com/office/drawing/2014/main" val="3792019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Faixa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Matrículas Base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%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Matrículas Limpas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%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ysClr val="windowText" lastClr="000000"/>
                          </a:solidFill>
                        </a:rPr>
                        <a:t>Variação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412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2.451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67,6%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538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31,2%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>
                          <a:solidFill>
                            <a:sysClr val="windowText" lastClr="000000"/>
                          </a:solidFill>
                        </a:rPr>
                        <a:t>🔴 -36,3pp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324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10,8%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353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20,5%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ysClr val="windowText" lastClr="000000"/>
                          </a:solidFill>
                        </a:rPr>
                        <a:t>+9,7pp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7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8-30 dias</a:t>
                      </a:r>
                    </a:p>
                  </a:txBody>
                  <a:tcPr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543</a:t>
                      </a:r>
                    </a:p>
                  </a:txBody>
                  <a:tcPr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15,0%</a:t>
                      </a:r>
                    </a:p>
                  </a:txBody>
                  <a:tcPr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498</a:t>
                      </a:r>
                    </a:p>
                  </a:txBody>
                  <a:tcPr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28,9%</a:t>
                      </a:r>
                    </a:p>
                  </a:txBody>
                  <a:tcPr anchor="ctr">
                    <a:solidFill>
                      <a:srgbClr val="03C9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ysClr val="windowText" lastClr="000000"/>
                          </a:solidFill>
                        </a:rPr>
                        <a:t>✅ +13,9pp</a:t>
                      </a:r>
                    </a:p>
                  </a:txBody>
                  <a:tcPr anchor="ctr">
                    <a:solidFill>
                      <a:srgbClr val="03C9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375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31-60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194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11,3%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ysClr val="windowText" lastClr="000000"/>
                          </a:solidFill>
                        </a:rPr>
                        <a:t>+7,3pp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535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61-90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99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5,7%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ysClr val="windowText" lastClr="000000"/>
                          </a:solidFill>
                        </a:rPr>
                        <a:t>+4,1pp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49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&gt; 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2,3%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ysClr val="windowText" lastClr="000000"/>
                          </a:solidFill>
                        </a:rPr>
                        <a:t>+1,3pp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926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3.627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1.722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40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78012"/>
                  </a:ext>
                </a:extLst>
              </a:tr>
            </a:tbl>
          </a:graphicData>
        </a:graphic>
      </p:graphicFrame>
      <p:sp>
        <p:nvSpPr>
          <p:cNvPr id="8" name="Espaço Reservado para Texto 12">
            <a:extLst>
              <a:ext uri="{FF2B5EF4-FFF2-40B4-BE49-F238E27FC236}">
                <a16:creationId xmlns:a16="http://schemas.microsoft.com/office/drawing/2014/main" id="{2B498334-65E7-3728-8395-1853EC9F212B}"/>
              </a:ext>
            </a:extLst>
          </p:cNvPr>
          <p:cNvSpPr txBox="1"/>
          <p:nvPr/>
        </p:nvSpPr>
        <p:spPr>
          <a:xfrm>
            <a:off x="4032354" y="4267228"/>
            <a:ext cx="650669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defRPr sz="1600">
                <a:solidFill>
                  <a:srgbClr val="3B4044"/>
                </a:solidFill>
                <a:latin typeface="Axiforma-Book"/>
                <a:ea typeface="Axiforma-Book"/>
                <a:cs typeface="Axiforma-Book"/>
                <a:sym typeface="Axiforma-Book"/>
              </a:defRPr>
            </a:pPr>
            <a:r>
              <a:rPr lang="pt-BR" sz="1600" b="1" dirty="0">
                <a:sym typeface="Axiforma-Book"/>
              </a:rPr>
              <a:t>Matrículas Base </a:t>
            </a:r>
            <a:r>
              <a:rPr lang="pt-BR" sz="1600" dirty="0">
                <a:sym typeface="Axiforma-Book"/>
              </a:rPr>
              <a:t>= Base completa (com erros) </a:t>
            </a:r>
            <a:r>
              <a:rPr lang="pt-BR" sz="1600" b="1" dirty="0">
                <a:sym typeface="Axiforma-Book"/>
              </a:rPr>
              <a:t>Matrículas Limpas </a:t>
            </a:r>
            <a:r>
              <a:rPr lang="pt-BR" sz="1600" dirty="0">
                <a:sym typeface="Axiforma-Book"/>
              </a:rPr>
              <a:t>= Base filtrada pela recência (sem erros)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15560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18A4-9B38-B6AA-7801-D569F4B5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BD10A6EB-E6A3-C9D4-2080-02BF9D0A4195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AACAEDC1-27A9-4E2C-4BA8-FFFF2AB2EC6B}"/>
              </a:ext>
            </a:extLst>
          </p:cNvPr>
          <p:cNvSpPr txBox="1"/>
          <p:nvPr/>
        </p:nvSpPr>
        <p:spPr>
          <a:xfrm>
            <a:off x="427449" y="253826"/>
            <a:ext cx="28506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Próprias </a:t>
            </a:r>
            <a:r>
              <a:rPr lang="pt-BR" dirty="0" err="1"/>
              <a:t>vs</a:t>
            </a:r>
            <a:r>
              <a:rPr lang="pt-BR" dirty="0"/>
              <a:t> Franqueadas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3A1BB25D-C585-28D0-AFEC-C26C82713653}"/>
              </a:ext>
            </a:extLst>
          </p:cNvPr>
          <p:cNvSpPr txBox="1"/>
          <p:nvPr/>
        </p:nvSpPr>
        <p:spPr>
          <a:xfrm>
            <a:off x="400516" y="1784101"/>
            <a:ext cx="2756131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b="1" dirty="0">
                <a:sym typeface="Avenir Light"/>
              </a:rPr>
              <a:t>A faixa 8-30 dias é justa para ambas.</a:t>
            </a:r>
            <a:r>
              <a:rPr lang="pt-BR" sz="1600" dirty="0">
                <a:sym typeface="Avenir Light"/>
              </a:rPr>
              <a:t> A diferença entre próprias e franqueadas está no </a:t>
            </a:r>
            <a:r>
              <a:rPr lang="pt-BR" sz="1600" b="1" dirty="0">
                <a:sym typeface="Avenir Light"/>
              </a:rPr>
              <a:t>índice de erros</a:t>
            </a:r>
            <a:r>
              <a:rPr lang="pt-BR" sz="1600" dirty="0">
                <a:sym typeface="Avenir Light"/>
              </a:rPr>
              <a:t> (12% </a:t>
            </a:r>
            <a:r>
              <a:rPr lang="pt-BR" sz="1600" dirty="0" err="1">
                <a:sym typeface="Avenir Light"/>
              </a:rPr>
              <a:t>vs</a:t>
            </a:r>
            <a:r>
              <a:rPr lang="pt-BR" sz="1600" dirty="0">
                <a:sym typeface="Avenir Light"/>
              </a:rPr>
              <a:t> 25%), não no comportamento das atividades.</a:t>
            </a:r>
            <a:br>
              <a:rPr lang="pt-BR" sz="1600" dirty="0">
                <a:sym typeface="Avenir Light"/>
              </a:rPr>
            </a:b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b="1" dirty="0">
                <a:sym typeface="Avenir Light"/>
              </a:rPr>
              <a:t>Próprias: </a:t>
            </a:r>
            <a:r>
              <a:rPr lang="pt-BR" sz="1600" dirty="0">
                <a:sym typeface="Avenir Light"/>
              </a:rPr>
              <a:t>12,3% de erros;</a:t>
            </a:r>
            <a:br>
              <a:rPr lang="pt-BR" sz="1600" dirty="0">
                <a:sym typeface="Avenir Light"/>
              </a:rPr>
            </a:br>
            <a:r>
              <a:rPr lang="pt-BR" sz="1600" b="1" dirty="0">
                <a:sym typeface="Avenir Light"/>
              </a:rPr>
              <a:t>Franqueadas: </a:t>
            </a:r>
            <a:r>
              <a:rPr lang="pt-BR" sz="1600" dirty="0">
                <a:sym typeface="Avenir Light"/>
              </a:rPr>
              <a:t>24,6% de erros.</a:t>
            </a: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2B966C26-BF0C-2150-7AFD-466357D6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0375D68-7EE1-16C7-D7FB-3A8CCF7D0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480203"/>
              </p:ext>
            </p:extLst>
          </p:nvPr>
        </p:nvGraphicFramePr>
        <p:xfrm>
          <a:off x="3744097" y="1004325"/>
          <a:ext cx="8239973" cy="210312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177139">
                  <a:extLst>
                    <a:ext uri="{9D8B030D-6E8A-4147-A177-3AD203B41FA5}">
                      <a16:colId xmlns:a16="http://schemas.microsoft.com/office/drawing/2014/main" val="1375010634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1574857840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1159995127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3560826421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1379217224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4032274236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278732809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Faixa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Leads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Matrículas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Taxa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Méd Ativ (leads)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Méd Ativ (mat)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Status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018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18,2%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2,4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4952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32,5%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4,8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6096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8-30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518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17,4%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5,8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452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31-60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11,7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6943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61-90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12,4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5353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&gt; 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14,7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13,2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47365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181DC81-C398-37FA-CC4A-1FD559E41A0A}"/>
              </a:ext>
            </a:extLst>
          </p:cNvPr>
          <p:cNvSpPr/>
          <p:nvPr/>
        </p:nvSpPr>
        <p:spPr>
          <a:xfrm>
            <a:off x="3744096" y="357750"/>
            <a:ext cx="1308351" cy="519348"/>
          </a:xfrm>
          <a:prstGeom prst="roundRect">
            <a:avLst>
              <a:gd name="adj" fmla="val 50000"/>
            </a:avLst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xiforma-Bold"/>
              </a:rPr>
              <a:t>Próprias</a:t>
            </a:r>
            <a:endParaRPr lang="pt-BR" dirty="0">
              <a:solidFill>
                <a:schemeClr val="bg1"/>
              </a:solidFill>
              <a:latin typeface="Axiforma-Bold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66C3370-6066-9C2D-A0BE-B5BCE5C3A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662315"/>
              </p:ext>
            </p:extLst>
          </p:nvPr>
        </p:nvGraphicFramePr>
        <p:xfrm>
          <a:off x="3744096" y="3897999"/>
          <a:ext cx="8239973" cy="2298359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177139">
                  <a:extLst>
                    <a:ext uri="{9D8B030D-6E8A-4147-A177-3AD203B41FA5}">
                      <a16:colId xmlns:a16="http://schemas.microsoft.com/office/drawing/2014/main" val="1140365275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3561513997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1028594057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2034663062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188846344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396534964"/>
                    </a:ext>
                  </a:extLst>
                </a:gridCol>
                <a:gridCol w="1177139">
                  <a:extLst>
                    <a:ext uri="{9D8B030D-6E8A-4147-A177-3AD203B41FA5}">
                      <a16:colId xmlns:a16="http://schemas.microsoft.com/office/drawing/2014/main" val="197738874"/>
                    </a:ext>
                  </a:extLst>
                </a:gridCol>
              </a:tblGrid>
              <a:tr h="4996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Faixa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Leads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 err="1">
                          <a:solidFill>
                            <a:sysClr val="windowText" lastClr="000000"/>
                          </a:solidFill>
                        </a:rPr>
                        <a:t>Mat</a:t>
                      </a:r>
                      <a:endParaRPr lang="pt-BR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Taxa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>
                          <a:solidFill>
                            <a:sysClr val="windowText" lastClr="000000"/>
                          </a:solidFill>
                        </a:rPr>
                        <a:t>Méd Ativ (leads)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 err="1">
                          <a:solidFill>
                            <a:sysClr val="windowText" lastClr="000000"/>
                          </a:solidFill>
                        </a:rPr>
                        <a:t>Méd</a:t>
                      </a: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pt-BR" dirty="0" err="1">
                          <a:solidFill>
                            <a:sysClr val="windowText" lastClr="000000"/>
                          </a:solidFill>
                        </a:rPr>
                        <a:t>Ativ</a:t>
                      </a: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 (</a:t>
                      </a:r>
                      <a:r>
                        <a:rPr lang="pt-BR" dirty="0" err="1">
                          <a:solidFill>
                            <a:sysClr val="windowText" lastClr="000000"/>
                          </a:solidFill>
                        </a:rPr>
                        <a:t>mat</a:t>
                      </a: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>
                          <a:solidFill>
                            <a:sysClr val="windowText" lastClr="000000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50201"/>
                  </a:ext>
                </a:extLst>
              </a:tr>
              <a:tr h="299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1.088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12,6%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1,5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606635"/>
                  </a:ext>
                </a:extLst>
              </a:tr>
              <a:tr h="299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1.275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19,6%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3,2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971640"/>
                  </a:ext>
                </a:extLst>
              </a:tr>
              <a:tr h="299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8-30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2.443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16,4%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4,6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5,3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649096"/>
                  </a:ext>
                </a:extLst>
              </a:tr>
              <a:tr h="299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31-60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1.446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10,6%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5,4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5,9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793769"/>
                  </a:ext>
                </a:extLst>
              </a:tr>
              <a:tr h="299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61-90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7,5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503129"/>
                  </a:ext>
                </a:extLst>
              </a:tr>
              <a:tr h="2997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&gt; 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3,7%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11,8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302495"/>
                  </a:ext>
                </a:extLst>
              </a:tr>
            </a:tbl>
          </a:graphicData>
        </a:graphic>
      </p:graphicFrame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6EB5C01-C314-C88D-24D3-B251FBE31728}"/>
              </a:ext>
            </a:extLst>
          </p:cNvPr>
          <p:cNvSpPr/>
          <p:nvPr/>
        </p:nvSpPr>
        <p:spPr>
          <a:xfrm>
            <a:off x="3744095" y="3302683"/>
            <a:ext cx="1866291" cy="51934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ctr"/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xiforma-Bold"/>
              </a:rPr>
              <a:t>Franqueadas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Axiforma-Bold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80210ED-AB38-AAF9-AAD6-F2DD8F693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721233"/>
              </p:ext>
            </p:extLst>
          </p:nvPr>
        </p:nvGraphicFramePr>
        <p:xfrm>
          <a:off x="0" y="4568559"/>
          <a:ext cx="3489582" cy="143256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163194">
                  <a:extLst>
                    <a:ext uri="{9D8B030D-6E8A-4147-A177-3AD203B41FA5}">
                      <a16:colId xmlns:a16="http://schemas.microsoft.com/office/drawing/2014/main" val="3168835166"/>
                    </a:ext>
                  </a:extLst>
                </a:gridCol>
                <a:gridCol w="1163194">
                  <a:extLst>
                    <a:ext uri="{9D8B030D-6E8A-4147-A177-3AD203B41FA5}">
                      <a16:colId xmlns:a16="http://schemas.microsoft.com/office/drawing/2014/main" val="2355483321"/>
                    </a:ext>
                  </a:extLst>
                </a:gridCol>
                <a:gridCol w="1163194">
                  <a:extLst>
                    <a:ext uri="{9D8B030D-6E8A-4147-A177-3AD203B41FA5}">
                      <a16:colId xmlns:a16="http://schemas.microsoft.com/office/drawing/2014/main" val="3571998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Erro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Próprias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Franqueadas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51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Data fechamento &lt; criação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7,4%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17,2%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951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Última atividade nula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10,8%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21,3%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491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Última atividade &lt; criação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0,5%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0,8%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138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52543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DA7F-BFDA-5E56-C929-975DEC4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5D37141B-F0F3-9281-C0F7-45BF1D6DC178}"/>
              </a:ext>
            </a:extLst>
          </p:cNvPr>
          <p:cNvSpPr/>
          <p:nvPr/>
        </p:nvSpPr>
        <p:spPr>
          <a:xfrm rot="16200000">
            <a:off x="-208485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27ECF1-CB88-2E33-D416-87A9EC4448B3}"/>
              </a:ext>
            </a:extLst>
          </p:cNvPr>
          <p:cNvSpPr/>
          <p:nvPr/>
        </p:nvSpPr>
        <p:spPr>
          <a:xfrm>
            <a:off x="6536272" y="921084"/>
            <a:ext cx="5235089" cy="5235089"/>
          </a:xfrm>
          <a:prstGeom prst="ellipse">
            <a:avLst/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B205C17C-6102-0F67-904E-5BB270C03EF7}"/>
              </a:ext>
            </a:extLst>
          </p:cNvPr>
          <p:cNvSpPr txBox="1"/>
          <p:nvPr/>
        </p:nvSpPr>
        <p:spPr>
          <a:xfrm>
            <a:off x="7620311" y="2799966"/>
            <a:ext cx="3037696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 defTabSz="457200">
              <a:lnSpc>
                <a:spcPct val="70000"/>
              </a:lnSpc>
              <a:defRPr sz="3000">
                <a:solidFill>
                  <a:srgbClr val="F5BF51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pPr>
              <a:lnSpc>
                <a:spcPct val="100000"/>
              </a:lnSpc>
            </a:pPr>
            <a:r>
              <a:rPr lang="pt-BR" b="1" dirty="0"/>
              <a:t>Projeções Unidades Próprias:</a:t>
            </a:r>
          </a:p>
        </p:txBody>
      </p:sp>
      <p:pic>
        <p:nvPicPr>
          <p:cNvPr id="13" name="Imagem 12" descr="Pessoas posando para foto&#10;&#10;O conteúdo gerado por IA pode estar incorreto.">
            <a:extLst>
              <a:ext uri="{FF2B5EF4-FFF2-40B4-BE49-F238E27FC236}">
                <a16:creationId xmlns:a16="http://schemas.microsoft.com/office/drawing/2014/main" id="{BAFC63F0-2E1C-DCCA-4FC9-5FC8A87CFE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6" r="10823" b="483"/>
          <a:stretch>
            <a:fillRect/>
          </a:stretch>
        </p:blipFill>
        <p:spPr>
          <a:xfrm>
            <a:off x="280919" y="733705"/>
            <a:ext cx="5396400" cy="5370243"/>
          </a:xfrm>
          <a:custGeom>
            <a:avLst/>
            <a:gdLst>
              <a:gd name="csX0" fmla="*/ 2342213 w 5396400"/>
              <a:gd name="csY0" fmla="*/ 0 h 5370243"/>
              <a:gd name="csX1" fmla="*/ 3054187 w 5396400"/>
              <a:gd name="csY1" fmla="*/ 0 h 5370243"/>
              <a:gd name="csX2" fmla="*/ 3241982 w 5396400"/>
              <a:gd name="csY2" fmla="*/ 28661 h 5370243"/>
              <a:gd name="csX3" fmla="*/ 5396400 w 5396400"/>
              <a:gd name="csY3" fmla="*/ 2672043 h 5370243"/>
              <a:gd name="csX4" fmla="*/ 2698200 w 5396400"/>
              <a:gd name="csY4" fmla="*/ 5370243 h 5370243"/>
              <a:gd name="csX5" fmla="*/ 0 w 5396400"/>
              <a:gd name="csY5" fmla="*/ 2672043 h 5370243"/>
              <a:gd name="csX6" fmla="*/ 2154419 w 5396400"/>
              <a:gd name="csY6" fmla="*/ 28661 h 5370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96400" h="5370243">
                <a:moveTo>
                  <a:pt x="2342213" y="0"/>
                </a:moveTo>
                <a:lnTo>
                  <a:pt x="3054187" y="0"/>
                </a:lnTo>
                <a:lnTo>
                  <a:pt x="3241982" y="28661"/>
                </a:lnTo>
                <a:cubicBezTo>
                  <a:pt x="4471506" y="280258"/>
                  <a:pt x="5396400" y="1368140"/>
                  <a:pt x="5396400" y="2672043"/>
                </a:cubicBezTo>
                <a:cubicBezTo>
                  <a:pt x="5396400" y="4162218"/>
                  <a:pt x="4188375" y="5370243"/>
                  <a:pt x="2698200" y="5370243"/>
                </a:cubicBezTo>
                <a:cubicBezTo>
                  <a:pt x="1208025" y="5370243"/>
                  <a:pt x="0" y="4162218"/>
                  <a:pt x="0" y="2672043"/>
                </a:cubicBezTo>
                <a:cubicBezTo>
                  <a:pt x="0" y="1368140"/>
                  <a:pt x="924894" y="280258"/>
                  <a:pt x="2154419" y="286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7331937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A968-CE46-98D0-C016-203B590E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C8422108-A0DB-912E-45C9-7CC1057F3E53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0735AE3A-4537-A996-2C97-017C5137929D}"/>
              </a:ext>
            </a:extLst>
          </p:cNvPr>
          <p:cNvSpPr txBox="1"/>
          <p:nvPr/>
        </p:nvSpPr>
        <p:spPr>
          <a:xfrm>
            <a:off x="400516" y="616652"/>
            <a:ext cx="28506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Produtos e Materiais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D67C564C-8037-3E36-664C-984CACA77B9B}"/>
              </a:ext>
            </a:extLst>
          </p:cNvPr>
          <p:cNvSpPr txBox="1"/>
          <p:nvPr/>
        </p:nvSpPr>
        <p:spPr>
          <a:xfrm>
            <a:off x="400516" y="1703206"/>
            <a:ext cx="2756131" cy="353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pt-BR" sz="1600" dirty="0"/>
              <a:t>~70% dos leads não têm idade informada no campo padrão (extraímos do nome do negócio)</a:t>
            </a:r>
          </a:p>
          <a:p>
            <a:endParaRPr lang="pt-BR" sz="1600" dirty="0"/>
          </a:p>
          <a:p>
            <a:r>
              <a:rPr lang="pt-BR" sz="1600" dirty="0"/>
              <a:t>Apenas 4% têm valor de contrato preenchido (18% nas próprias)</a:t>
            </a:r>
          </a:p>
          <a:p>
            <a:endParaRPr lang="pt-BR" sz="1600" dirty="0"/>
          </a:p>
          <a:p>
            <a:r>
              <a:rPr lang="pt-BR" sz="1600" dirty="0"/>
              <a:t>Projeção limitada às 8 unidades próprias (100% da receita). Franqueadas excluídas por receberem apenas royalties variáveis.</a:t>
            </a:r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89DE6E50-DFA4-C386-FC16-2688EF650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943347B-D9A6-38F4-F665-2795497C51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9393"/>
            <a:ext cx="1857078" cy="2301850"/>
          </a:xfrm>
          <a:prstGeom prst="rect">
            <a:avLst/>
          </a:prstGeom>
        </p:spPr>
      </p:pic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0D83936-86B2-2695-99E0-4CDF4A831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42974"/>
              </p:ext>
            </p:extLst>
          </p:nvPr>
        </p:nvGraphicFramePr>
        <p:xfrm>
          <a:off x="3961702" y="989572"/>
          <a:ext cx="7829784" cy="210312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957446">
                  <a:extLst>
                    <a:ext uri="{9D8B030D-6E8A-4147-A177-3AD203B41FA5}">
                      <a16:colId xmlns:a16="http://schemas.microsoft.com/office/drawing/2014/main" val="2745232151"/>
                    </a:ext>
                  </a:extLst>
                </a:gridCol>
                <a:gridCol w="1957446">
                  <a:extLst>
                    <a:ext uri="{9D8B030D-6E8A-4147-A177-3AD203B41FA5}">
                      <a16:colId xmlns:a16="http://schemas.microsoft.com/office/drawing/2014/main" val="2694211807"/>
                    </a:ext>
                  </a:extLst>
                </a:gridCol>
                <a:gridCol w="1957446">
                  <a:extLst>
                    <a:ext uri="{9D8B030D-6E8A-4147-A177-3AD203B41FA5}">
                      <a16:colId xmlns:a16="http://schemas.microsoft.com/office/drawing/2014/main" val="2043900315"/>
                    </a:ext>
                  </a:extLst>
                </a:gridCol>
                <a:gridCol w="1957446">
                  <a:extLst>
                    <a:ext uri="{9D8B030D-6E8A-4147-A177-3AD203B41FA5}">
                      <a16:colId xmlns:a16="http://schemas.microsoft.com/office/drawing/2014/main" val="1812137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Faixa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Produto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Estágios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Foco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370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3-6 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Kids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K1, K2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Compreensão oral, atividades lúdicas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612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7-10 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Juniors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J1,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Alfabetização + preparação Cambridge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79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10-14 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Early Teens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TA, T1, T2, 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4 habilidades + independência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40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13-17 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Late Teens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T4, T5, 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Fluência avançada + exames B2/C1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342755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06289ABE-B0C2-7EDF-80A8-E19ECE147B46}"/>
              </a:ext>
            </a:extLst>
          </p:cNvPr>
          <p:cNvSpPr txBox="1"/>
          <p:nvPr/>
        </p:nvSpPr>
        <p:spPr>
          <a:xfrm>
            <a:off x="3928675" y="616652"/>
            <a:ext cx="61159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b="1" dirty="0"/>
              <a:t>FAIXAS ETÁRIAS E PRODUTOS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229517E-CA56-C173-6E59-73B92B2544DE}"/>
              </a:ext>
            </a:extLst>
          </p:cNvPr>
          <p:cNvSpPr txBox="1"/>
          <p:nvPr/>
        </p:nvSpPr>
        <p:spPr>
          <a:xfrm>
            <a:off x="3928675" y="3395977"/>
            <a:ext cx="61159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b="1" dirty="0"/>
              <a:t>COMPOSIÇÃO DA RECEITA ANUAL</a:t>
            </a:r>
            <a:endParaRPr lang="pt-BR" dirty="0"/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E48AC0A8-8725-33E0-17CD-DB2E9007D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59123"/>
              </p:ext>
            </p:extLst>
          </p:nvPr>
        </p:nvGraphicFramePr>
        <p:xfrm>
          <a:off x="3961701" y="3765309"/>
          <a:ext cx="7829784" cy="154800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2609928">
                  <a:extLst>
                    <a:ext uri="{9D8B030D-6E8A-4147-A177-3AD203B41FA5}">
                      <a16:colId xmlns:a16="http://schemas.microsoft.com/office/drawing/2014/main" val="1229691757"/>
                    </a:ext>
                  </a:extLst>
                </a:gridCol>
                <a:gridCol w="2609928">
                  <a:extLst>
                    <a:ext uri="{9D8B030D-6E8A-4147-A177-3AD203B41FA5}">
                      <a16:colId xmlns:a16="http://schemas.microsoft.com/office/drawing/2014/main" val="3509334119"/>
                    </a:ext>
                  </a:extLst>
                </a:gridCol>
                <a:gridCol w="2609928">
                  <a:extLst>
                    <a:ext uri="{9D8B030D-6E8A-4147-A177-3AD203B41FA5}">
                      <a16:colId xmlns:a16="http://schemas.microsoft.com/office/drawing/2014/main" val="841180638"/>
                    </a:ext>
                  </a:extLst>
                </a:gridCol>
              </a:tblGrid>
              <a:tr h="3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Componente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Kids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Juniors/</a:t>
                      </a:r>
                      <a:r>
                        <a:rPr lang="pt-BR" dirty="0" err="1"/>
                        <a:t>Teens</a:t>
                      </a:r>
                      <a:endParaRPr lang="pt-BR" dirty="0"/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07921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Mensalidade (04h)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R$ 876 a R$ 1.319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R$ 876 a R$ 1.319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483758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× 12 parcelas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R$ 10.512 a R$ 15.828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R$ 10.512 a R$ 15.828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901852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+ Kit Didático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R$ 996,77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R$ 1.217,77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126187"/>
                  </a:ext>
                </a:extLst>
              </a:tr>
              <a:tr h="3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= Receita Anual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R$ 11.508 a R$ 16.824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R$ 11.729 a R$ 17.045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638332"/>
                  </a:ext>
                </a:extLst>
              </a:tr>
            </a:tbl>
          </a:graphicData>
        </a:graphic>
      </p:graphicFrame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15336D-9A56-8001-5F67-744287A7A6FA}"/>
              </a:ext>
            </a:extLst>
          </p:cNvPr>
          <p:cNvSpPr txBox="1"/>
          <p:nvPr/>
        </p:nvSpPr>
        <p:spPr>
          <a:xfrm>
            <a:off x="3720743" y="5542487"/>
            <a:ext cx="8263325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/>
              <a:t>Cargas: 04h, 06h, 08h, 12h, 20h (03h apenas Late </a:t>
            </a:r>
            <a:r>
              <a:rPr lang="pt-BR" sz="1300" dirty="0" err="1"/>
              <a:t>Teens</a:t>
            </a:r>
            <a:r>
              <a:rPr lang="pt-BR" sz="1300" dirty="0"/>
              <a:t>) | Kit obrigatório via </a:t>
            </a:r>
            <a:r>
              <a:rPr lang="pt-BR" sz="1300" dirty="0" err="1"/>
              <a:t>Eskolare</a:t>
            </a:r>
            <a:r>
              <a:rPr lang="pt-BR" sz="1300" dirty="0"/>
              <a:t> | Holiday </a:t>
            </a:r>
            <a:r>
              <a:rPr lang="pt-BR" sz="1300" dirty="0" err="1"/>
              <a:t>Program</a:t>
            </a:r>
            <a:r>
              <a:rPr lang="pt-BR" sz="1300" dirty="0"/>
              <a:t>: Jan e Jul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Média entre Kids (R$ 996) e Juniors/</a:t>
            </a:r>
            <a:r>
              <a:rPr lang="pt-BR" sz="1400" dirty="0" err="1"/>
              <a:t>Teens</a:t>
            </a:r>
            <a:r>
              <a:rPr lang="pt-BR" sz="1400" dirty="0"/>
              <a:t> (R$ 1.217) para leads sem idade preenchida</a:t>
            </a:r>
            <a:endParaRPr lang="pt-BR" sz="1300" dirty="0"/>
          </a:p>
        </p:txBody>
      </p:sp>
    </p:spTree>
    <p:extLst>
      <p:ext uri="{BB962C8B-B14F-4D97-AF65-F5344CB8AC3E}">
        <p14:creationId xmlns:p14="http://schemas.microsoft.com/office/powerpoint/2010/main" val="394466872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8EC1-9EC2-C8F8-B9EC-DBBA06B4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9959AD66-C88C-4014-DFF9-288B417091F3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5DE44B05-2C49-D1C9-375D-D61A9AA08199}"/>
              </a:ext>
            </a:extLst>
          </p:cNvPr>
          <p:cNvSpPr txBox="1"/>
          <p:nvPr/>
        </p:nvSpPr>
        <p:spPr>
          <a:xfrm>
            <a:off x="400516" y="616652"/>
            <a:ext cx="2537556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Projeção por faixa de idade do lead: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598A9414-36F3-5A98-6D7B-0B4D07E81004}"/>
              </a:ext>
            </a:extLst>
          </p:cNvPr>
          <p:cNvSpPr txBox="1"/>
          <p:nvPr/>
        </p:nvSpPr>
        <p:spPr>
          <a:xfrm>
            <a:off x="400516" y="2247826"/>
            <a:ext cx="2756131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Calculo que considera a taxa de conversão do ciclo 26.1 para cada faixa de idade do lead </a:t>
            </a:r>
            <a:r>
              <a:rPr lang="pt-BR" sz="1600" dirty="0" err="1">
                <a:sym typeface="Avenir Light"/>
              </a:rPr>
              <a:t>vs</a:t>
            </a:r>
            <a:r>
              <a:rPr lang="pt-BR" sz="1600" dirty="0">
                <a:sym typeface="Avenir Light"/>
              </a:rPr>
              <a:t> a quantidade de leads em qualificação.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Valor médio de matrícula.</a:t>
            </a:r>
            <a:endParaRPr lang="pt-BR" i="1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F7C01136-C293-702A-9488-1446A5E4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FF8CBC6-8AC3-69C8-D3FB-41F79E58D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764021"/>
            <a:ext cx="1857078" cy="2301850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09DC85C-F5DC-FAAF-9934-FC924439D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46696"/>
              </p:ext>
            </p:extLst>
          </p:nvPr>
        </p:nvGraphicFramePr>
        <p:xfrm>
          <a:off x="3595740" y="1179580"/>
          <a:ext cx="8195744" cy="182880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2048936">
                  <a:extLst>
                    <a:ext uri="{9D8B030D-6E8A-4147-A177-3AD203B41FA5}">
                      <a16:colId xmlns:a16="http://schemas.microsoft.com/office/drawing/2014/main" val="1487689580"/>
                    </a:ext>
                  </a:extLst>
                </a:gridCol>
                <a:gridCol w="2048936">
                  <a:extLst>
                    <a:ext uri="{9D8B030D-6E8A-4147-A177-3AD203B41FA5}">
                      <a16:colId xmlns:a16="http://schemas.microsoft.com/office/drawing/2014/main" val="2226940399"/>
                    </a:ext>
                  </a:extLst>
                </a:gridCol>
                <a:gridCol w="2048936">
                  <a:extLst>
                    <a:ext uri="{9D8B030D-6E8A-4147-A177-3AD203B41FA5}">
                      <a16:colId xmlns:a16="http://schemas.microsoft.com/office/drawing/2014/main" val="2910137490"/>
                    </a:ext>
                  </a:extLst>
                </a:gridCol>
                <a:gridCol w="2048936">
                  <a:extLst>
                    <a:ext uri="{9D8B030D-6E8A-4147-A177-3AD203B41FA5}">
                      <a16:colId xmlns:a16="http://schemas.microsoft.com/office/drawing/2014/main" val="488866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Faixa de idade do lead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Em Qualificação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Matrículas Esperadas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Receita Potencial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24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R$ 136.293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267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R$ 281.725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63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8-30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R$ 613.622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74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31-90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R$ 509.219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0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&gt; 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R$ 66.326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639507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78492BF4-6B43-5096-33AD-9285D2BDCEA8}"/>
              </a:ext>
            </a:extLst>
          </p:cNvPr>
          <p:cNvSpPr txBox="1"/>
          <p:nvPr/>
        </p:nvSpPr>
        <p:spPr>
          <a:xfrm>
            <a:off x="3595740" y="5827025"/>
            <a:ext cx="6115986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Valores com asterisco indicam arredondamento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Totais variam conforme o corte analítico, pois a taxa de conversão histórica é específica de cada dimensão.</a:t>
            </a:r>
          </a:p>
        </p:txBody>
      </p:sp>
    </p:spTree>
    <p:extLst>
      <p:ext uri="{BB962C8B-B14F-4D97-AF65-F5344CB8AC3E}">
        <p14:creationId xmlns:p14="http://schemas.microsoft.com/office/powerpoint/2010/main" val="172885248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C971-856F-4733-D07A-E64FC1E8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E7B94C3B-388A-5B88-74D7-137FF2261243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4A0E087A-4A75-8719-7B7E-30CA3850FD78}"/>
              </a:ext>
            </a:extLst>
          </p:cNvPr>
          <p:cNvSpPr txBox="1"/>
          <p:nvPr/>
        </p:nvSpPr>
        <p:spPr>
          <a:xfrm>
            <a:off x="400516" y="616652"/>
            <a:ext cx="28506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Projeção por produto: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F5D2FEE5-5913-5A7E-B159-83DB77BCD057}"/>
              </a:ext>
            </a:extLst>
          </p:cNvPr>
          <p:cNvSpPr txBox="1"/>
          <p:nvPr/>
        </p:nvSpPr>
        <p:spPr>
          <a:xfrm>
            <a:off x="400516" y="1720291"/>
            <a:ext cx="2756131" cy="20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Calculo que considera a taxa de conversão do ciclo 26.1 para cada faixa de produto do lead </a:t>
            </a:r>
            <a:r>
              <a:rPr lang="pt-BR" sz="1600" dirty="0" err="1">
                <a:sym typeface="Avenir Light"/>
              </a:rPr>
              <a:t>vs</a:t>
            </a:r>
            <a:r>
              <a:rPr lang="pt-BR" sz="1600" dirty="0">
                <a:sym typeface="Avenir Light"/>
              </a:rPr>
              <a:t> a quantidade de leads em qualificação.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Faixa de 8 a 30 dias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Valor médio de matrícula.</a:t>
            </a:r>
            <a:endParaRPr lang="pt-BR" i="1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3AB555BA-445A-A70A-79C2-86878821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B40B113-919F-FED1-656C-0ACC3800CB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764021"/>
            <a:ext cx="1857078" cy="230185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234C58C-CA51-C921-4500-BCAB0C5EC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377955"/>
              </p:ext>
            </p:extLst>
          </p:nvPr>
        </p:nvGraphicFramePr>
        <p:xfrm>
          <a:off x="3595740" y="668731"/>
          <a:ext cx="8494488" cy="210312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061811">
                  <a:extLst>
                    <a:ext uri="{9D8B030D-6E8A-4147-A177-3AD203B41FA5}">
                      <a16:colId xmlns:a16="http://schemas.microsoft.com/office/drawing/2014/main" val="1131376189"/>
                    </a:ext>
                  </a:extLst>
                </a:gridCol>
                <a:gridCol w="708928">
                  <a:extLst>
                    <a:ext uri="{9D8B030D-6E8A-4147-A177-3AD203B41FA5}">
                      <a16:colId xmlns:a16="http://schemas.microsoft.com/office/drawing/2014/main" val="2664013661"/>
                    </a:ext>
                  </a:extLst>
                </a:gridCol>
                <a:gridCol w="689547">
                  <a:extLst>
                    <a:ext uri="{9D8B030D-6E8A-4147-A177-3AD203B41FA5}">
                      <a16:colId xmlns:a16="http://schemas.microsoft.com/office/drawing/2014/main" val="2852708510"/>
                    </a:ext>
                  </a:extLst>
                </a:gridCol>
                <a:gridCol w="959371">
                  <a:extLst>
                    <a:ext uri="{9D8B030D-6E8A-4147-A177-3AD203B41FA5}">
                      <a16:colId xmlns:a16="http://schemas.microsoft.com/office/drawing/2014/main" val="2890471980"/>
                    </a:ext>
                  </a:extLst>
                </a:gridCol>
                <a:gridCol w="1169233">
                  <a:extLst>
                    <a:ext uri="{9D8B030D-6E8A-4147-A177-3AD203B41FA5}">
                      <a16:colId xmlns:a16="http://schemas.microsoft.com/office/drawing/2014/main" val="1519222534"/>
                    </a:ext>
                  </a:extLst>
                </a:gridCol>
                <a:gridCol w="1169232">
                  <a:extLst>
                    <a:ext uri="{9D8B030D-6E8A-4147-A177-3AD203B41FA5}">
                      <a16:colId xmlns:a16="http://schemas.microsoft.com/office/drawing/2014/main" val="1088049354"/>
                    </a:ext>
                  </a:extLst>
                </a:gridCol>
                <a:gridCol w="1139253">
                  <a:extLst>
                    <a:ext uri="{9D8B030D-6E8A-4147-A177-3AD203B41FA5}">
                      <a16:colId xmlns:a16="http://schemas.microsoft.com/office/drawing/2014/main" val="410021230"/>
                    </a:ext>
                  </a:extLst>
                </a:gridCol>
                <a:gridCol w="1597113">
                  <a:extLst>
                    <a:ext uri="{9D8B030D-6E8A-4147-A177-3AD203B41FA5}">
                      <a16:colId xmlns:a16="http://schemas.microsoft.com/office/drawing/2014/main" val="1242280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Produto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Leads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Taxa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Matrículas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Mensalidade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Kit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Receita/Lead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Receita Potencial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344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Kids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1,2%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0,7*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R$ 1.316,72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R$ 996,77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R$ 16.797,36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R$ 10.998,27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44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Juniors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1,1%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0,7*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R$ 1.317,15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R$ 1.217,77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R$ 17.023,51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R$ 11.715,10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81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Early Teens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6,1%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2,*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R$ 1.317,22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R$ 1.217,77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R$ 17.024,46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R$ 34.396,37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114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Late Teens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12,5%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R$ 1.317,10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R$ 1.217,77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R$ 17.023,01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R$ 19.150,89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415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Não informada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18,8%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34*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R$ 1.318,91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R$ 1.107,27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R$ 16.934,22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R$ 578.396,83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0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TOTAL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343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39</a:t>
                      </a:r>
                      <a:r>
                        <a:rPr lang="pt-BR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R$ 654.657,45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88129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0BFC7214-213D-A754-32F9-1BBAD9EEAF3D}"/>
              </a:ext>
            </a:extLst>
          </p:cNvPr>
          <p:cNvSpPr txBox="1"/>
          <p:nvPr/>
        </p:nvSpPr>
        <p:spPr>
          <a:xfrm>
            <a:off x="3595740" y="5827025"/>
            <a:ext cx="6115986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Valores com asterisco indicam arredondamento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Totais variam conforme o corte analítico, pois a taxa de conversão histórica é específica de cada dimensão.</a:t>
            </a:r>
          </a:p>
        </p:txBody>
      </p:sp>
    </p:spTree>
    <p:extLst>
      <p:ext uri="{BB962C8B-B14F-4D97-AF65-F5344CB8AC3E}">
        <p14:creationId xmlns:p14="http://schemas.microsoft.com/office/powerpoint/2010/main" val="13445906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3885-DEBF-0D99-C646-8C93422D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74C1B3CF-1C3C-DA0C-CCD7-24DC278E6430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AAE90D36-7D66-6ED2-65A7-4D3884FEE9BA}"/>
              </a:ext>
            </a:extLst>
          </p:cNvPr>
          <p:cNvSpPr txBox="1"/>
          <p:nvPr/>
        </p:nvSpPr>
        <p:spPr>
          <a:xfrm>
            <a:off x="400516" y="616652"/>
            <a:ext cx="2850621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Projeção por Canal: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62C033EE-5045-52AF-7DA3-C25CB3633805}"/>
              </a:ext>
            </a:extLst>
          </p:cNvPr>
          <p:cNvSpPr txBox="1"/>
          <p:nvPr/>
        </p:nvSpPr>
        <p:spPr>
          <a:xfrm>
            <a:off x="400516" y="1720291"/>
            <a:ext cx="2756131" cy="20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Calculo que considera a taxa de conversão do ciclo 26.1 para cada canal de captação do lead </a:t>
            </a:r>
            <a:r>
              <a:rPr lang="pt-BR" sz="1600" dirty="0" err="1">
                <a:sym typeface="Avenir Light"/>
              </a:rPr>
              <a:t>vs</a:t>
            </a:r>
            <a:r>
              <a:rPr lang="pt-BR" sz="1600" dirty="0">
                <a:sym typeface="Avenir Light"/>
              </a:rPr>
              <a:t> a quantidade de leads em qualificação.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Faixa de 8 a 30 dias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Valor médio de matrícula.</a:t>
            </a:r>
            <a:endParaRPr lang="pt-BR" i="1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3E02D771-FA16-8AFD-63D3-4C8FB4C39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128056C-98DD-5A02-8C8D-FC554CDE1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764021"/>
            <a:ext cx="1857078" cy="230185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5071143-E554-F4B5-5ABA-DC0A3EC30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195521"/>
              </p:ext>
            </p:extLst>
          </p:nvPr>
        </p:nvGraphicFramePr>
        <p:xfrm>
          <a:off x="3836430" y="1147570"/>
          <a:ext cx="7955052" cy="338328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325842">
                  <a:extLst>
                    <a:ext uri="{9D8B030D-6E8A-4147-A177-3AD203B41FA5}">
                      <a16:colId xmlns:a16="http://schemas.microsoft.com/office/drawing/2014/main" val="2798225609"/>
                    </a:ext>
                  </a:extLst>
                </a:gridCol>
                <a:gridCol w="1325842">
                  <a:extLst>
                    <a:ext uri="{9D8B030D-6E8A-4147-A177-3AD203B41FA5}">
                      <a16:colId xmlns:a16="http://schemas.microsoft.com/office/drawing/2014/main" val="893019731"/>
                    </a:ext>
                  </a:extLst>
                </a:gridCol>
                <a:gridCol w="1325842">
                  <a:extLst>
                    <a:ext uri="{9D8B030D-6E8A-4147-A177-3AD203B41FA5}">
                      <a16:colId xmlns:a16="http://schemas.microsoft.com/office/drawing/2014/main" val="1938843893"/>
                    </a:ext>
                  </a:extLst>
                </a:gridCol>
                <a:gridCol w="1325842">
                  <a:extLst>
                    <a:ext uri="{9D8B030D-6E8A-4147-A177-3AD203B41FA5}">
                      <a16:colId xmlns:a16="http://schemas.microsoft.com/office/drawing/2014/main" val="1850907119"/>
                    </a:ext>
                  </a:extLst>
                </a:gridCol>
                <a:gridCol w="1325842">
                  <a:extLst>
                    <a:ext uri="{9D8B030D-6E8A-4147-A177-3AD203B41FA5}">
                      <a16:colId xmlns:a16="http://schemas.microsoft.com/office/drawing/2014/main" val="2228239916"/>
                    </a:ext>
                  </a:extLst>
                </a:gridCol>
                <a:gridCol w="1325842">
                  <a:extLst>
                    <a:ext uri="{9D8B030D-6E8A-4147-A177-3AD203B41FA5}">
                      <a16:colId xmlns:a16="http://schemas.microsoft.com/office/drawing/2014/main" val="1475621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Canal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Em Qual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Taxa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Matrículas Esp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Receita/Lead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Receita Potencial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2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Fontes off-line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R$ 16.938,63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R$ 498.708,23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02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Social pago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4,1%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R$ 16.927,96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R$ 60.419,79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85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Pesquisa paga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13,0%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R$ 16.915,71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R$ 21.927,77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39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Tráfego 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13,3%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R$ 16.944,51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R$ 4.518,54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706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Social orgânico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9,1%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R$ 16.908,51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R$ 6.148,55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515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Referências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R$ 16.944,51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396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Referências de 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R$ 16.944,51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85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Pesquisa orgânica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33,3%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R$ 16.944,51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R$ 5.648,17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973663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836F845A-C514-6354-6C7E-1625F9C76B19}"/>
              </a:ext>
            </a:extLst>
          </p:cNvPr>
          <p:cNvSpPr txBox="1"/>
          <p:nvPr/>
        </p:nvSpPr>
        <p:spPr>
          <a:xfrm>
            <a:off x="3595740" y="5827025"/>
            <a:ext cx="6115986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Valores com asterisco indicam arredondamento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i="1" dirty="0"/>
              <a:t>Totais variam conforme o corte analítico, pois a taxa de conversão histórica é específica de cada dimensão.</a:t>
            </a:r>
          </a:p>
        </p:txBody>
      </p:sp>
    </p:spTree>
    <p:extLst>
      <p:ext uri="{BB962C8B-B14F-4D97-AF65-F5344CB8AC3E}">
        <p14:creationId xmlns:p14="http://schemas.microsoft.com/office/powerpoint/2010/main" val="152347286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E889-F578-82CE-144F-1096EABDB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10606E0E-9C0F-6F37-8C79-EDC20C337281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6C4F710E-ABA3-0B4C-370B-201304CB42DA}"/>
              </a:ext>
            </a:extLst>
          </p:cNvPr>
          <p:cNvSpPr txBox="1"/>
          <p:nvPr/>
        </p:nvSpPr>
        <p:spPr>
          <a:xfrm>
            <a:off x="400516" y="616652"/>
            <a:ext cx="2850621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Projeção das Unidades Próprias: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D23C3213-B283-7BD8-FDC1-BD89CD1DA0CB}"/>
              </a:ext>
            </a:extLst>
          </p:cNvPr>
          <p:cNvSpPr txBox="1"/>
          <p:nvPr/>
        </p:nvSpPr>
        <p:spPr>
          <a:xfrm>
            <a:off x="400516" y="2490831"/>
            <a:ext cx="275613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92DE3EF5-690A-70B5-D6DC-0383D85E2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7505DC6-D6C9-667F-22F4-3A6DEC4C18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4764021"/>
            <a:ext cx="1857078" cy="230185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22DC013-4C37-C522-DD96-5D3987F17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87601"/>
              </p:ext>
            </p:extLst>
          </p:nvPr>
        </p:nvGraphicFramePr>
        <p:xfrm>
          <a:off x="3928675" y="729583"/>
          <a:ext cx="7862810" cy="386105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572562">
                  <a:extLst>
                    <a:ext uri="{9D8B030D-6E8A-4147-A177-3AD203B41FA5}">
                      <a16:colId xmlns:a16="http://schemas.microsoft.com/office/drawing/2014/main" val="2599505408"/>
                    </a:ext>
                  </a:extLst>
                </a:gridCol>
                <a:gridCol w="1572562">
                  <a:extLst>
                    <a:ext uri="{9D8B030D-6E8A-4147-A177-3AD203B41FA5}">
                      <a16:colId xmlns:a16="http://schemas.microsoft.com/office/drawing/2014/main" val="4066558573"/>
                    </a:ext>
                  </a:extLst>
                </a:gridCol>
                <a:gridCol w="1572562">
                  <a:extLst>
                    <a:ext uri="{9D8B030D-6E8A-4147-A177-3AD203B41FA5}">
                      <a16:colId xmlns:a16="http://schemas.microsoft.com/office/drawing/2014/main" val="1025011305"/>
                    </a:ext>
                  </a:extLst>
                </a:gridCol>
                <a:gridCol w="1572562">
                  <a:extLst>
                    <a:ext uri="{9D8B030D-6E8A-4147-A177-3AD203B41FA5}">
                      <a16:colId xmlns:a16="http://schemas.microsoft.com/office/drawing/2014/main" val="1463531857"/>
                    </a:ext>
                  </a:extLst>
                </a:gridCol>
                <a:gridCol w="1572562">
                  <a:extLst>
                    <a:ext uri="{9D8B030D-6E8A-4147-A177-3AD203B41FA5}">
                      <a16:colId xmlns:a16="http://schemas.microsoft.com/office/drawing/2014/main" val="3415859798"/>
                    </a:ext>
                  </a:extLst>
                </a:gridCol>
              </a:tblGrid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Unidade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Qualificação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Taxa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Matrículas </a:t>
                      </a:r>
                      <a:r>
                        <a:rPr lang="pt-BR" sz="1400" dirty="0" err="1"/>
                        <a:t>Esp</a:t>
                      </a:r>
                      <a:endParaRPr lang="pt-BR" sz="1400" dirty="0"/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Receita Potencial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301753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PERDIZES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202.250,66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688840383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MORUMBI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12.2%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137.115,20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06165165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VILA LEOPOLDINA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56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81.838,82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81314988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SANTANA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79.499,21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5289434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PACAEMBU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42.603,34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99070504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ITAIM BIBI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115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37.282,13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46503246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PINHEIROS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30.609,44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90943197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JARDINS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3.009,71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96661590"/>
                  </a:ext>
                </a:extLst>
              </a:tr>
              <a:tr h="3861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TOTAL</a:t>
                      </a: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518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614.208,51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24408818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E21CE9B-0A85-D280-84D0-7572A7CFA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2241"/>
              </p:ext>
            </p:extLst>
          </p:nvPr>
        </p:nvGraphicFramePr>
        <p:xfrm>
          <a:off x="3928675" y="4760794"/>
          <a:ext cx="6414538" cy="182880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3207269">
                  <a:extLst>
                    <a:ext uri="{9D8B030D-6E8A-4147-A177-3AD203B41FA5}">
                      <a16:colId xmlns:a16="http://schemas.microsoft.com/office/drawing/2014/main" val="3304092952"/>
                    </a:ext>
                  </a:extLst>
                </a:gridCol>
                <a:gridCol w="3207269">
                  <a:extLst>
                    <a:ext uri="{9D8B030D-6E8A-4147-A177-3AD203B41FA5}">
                      <a16:colId xmlns:a16="http://schemas.microsoft.com/office/drawing/2014/main" val="544825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Métrica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Valor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59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Leads em Qualificação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204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87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Taxa de Conversão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17,8%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25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Matrículas Esperadas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36*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38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Receita Média/Matrícula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R$ 17k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87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Receita Potencial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R$ 614 mil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350273"/>
                  </a:ext>
                </a:extLst>
              </a:tr>
            </a:tbl>
          </a:graphicData>
        </a:graphic>
      </p:graphicFrame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3C39EA35-D1E5-13DB-2B4D-4FAEA01DC720}"/>
              </a:ext>
            </a:extLst>
          </p:cNvPr>
          <p:cNvSpPr txBox="1"/>
          <p:nvPr/>
        </p:nvSpPr>
        <p:spPr>
          <a:xfrm>
            <a:off x="400516" y="2167665"/>
            <a:ext cx="2756131" cy="20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dirty="0">
                <a:sym typeface="Avenir Light"/>
              </a:rPr>
              <a:t>Calculo que considera a taxa de conversão do ciclo 26.1 para cada unidade </a:t>
            </a:r>
            <a:r>
              <a:rPr lang="pt-BR" sz="1600" dirty="0" err="1">
                <a:sym typeface="Avenir Light"/>
              </a:rPr>
              <a:t>vs</a:t>
            </a:r>
            <a:r>
              <a:rPr lang="pt-BR" sz="1600" dirty="0">
                <a:sym typeface="Avenir Light"/>
              </a:rPr>
              <a:t> a quantidade de leads em qualificação.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sz="1600" dirty="0">
              <a:sym typeface="Avenir Light"/>
            </a:endParaRP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Faixa de 8 a 30 dias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rPr lang="pt-BR" sz="1600" i="1" dirty="0">
                <a:sym typeface="Avenir Light"/>
              </a:rPr>
              <a:t>Valor médio de matrícula.</a:t>
            </a:r>
            <a:endParaRPr lang="pt-BR" i="1" dirty="0"/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427621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5736-B7F7-D2EE-46A1-F11DA2FA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tângulo 10">
            <a:extLst>
              <a:ext uri="{FF2B5EF4-FFF2-40B4-BE49-F238E27FC236}">
                <a16:creationId xmlns:a16="http://schemas.microsoft.com/office/drawing/2014/main" id="{4D94F706-6495-5F32-2746-FFEC6B683BD6}"/>
              </a:ext>
            </a:extLst>
          </p:cNvPr>
          <p:cNvSpPr/>
          <p:nvPr/>
        </p:nvSpPr>
        <p:spPr>
          <a:xfrm>
            <a:off x="-38577" y="-1"/>
            <a:ext cx="3528159" cy="6858001"/>
          </a:xfrm>
          <a:prstGeom prst="rect">
            <a:avLst/>
          </a:prstGeom>
          <a:solidFill>
            <a:srgbClr val="D7DB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5BE4C"/>
                </a:solidFill>
              </a:defRPr>
            </a:pPr>
            <a:endParaRPr/>
          </a:p>
        </p:txBody>
      </p:sp>
      <p:sp>
        <p:nvSpPr>
          <p:cNvPr id="456" name="Espaço Reservado para Texto 13">
            <a:extLst>
              <a:ext uri="{FF2B5EF4-FFF2-40B4-BE49-F238E27FC236}">
                <a16:creationId xmlns:a16="http://schemas.microsoft.com/office/drawing/2014/main" id="{50BFC31E-F35B-118B-59C3-ED978FBC8432}"/>
              </a:ext>
            </a:extLst>
          </p:cNvPr>
          <p:cNvSpPr txBox="1"/>
          <p:nvPr/>
        </p:nvSpPr>
        <p:spPr>
          <a:xfrm>
            <a:off x="400516" y="418227"/>
            <a:ext cx="2850621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000">
                <a:solidFill>
                  <a:srgbClr val="6634AA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rPr lang="pt-BR" dirty="0"/>
              <a:t>Projeções </a:t>
            </a:r>
            <a:r>
              <a:rPr lang="pt-BR" dirty="0" err="1"/>
              <a:t>vs</a:t>
            </a:r>
            <a:r>
              <a:rPr lang="pt-BR" dirty="0"/>
              <a:t> Meta de captação</a:t>
            </a:r>
          </a:p>
        </p:txBody>
      </p:sp>
      <p:sp>
        <p:nvSpPr>
          <p:cNvPr id="458" name="Espaço Reservado para Texto 8">
            <a:extLst>
              <a:ext uri="{FF2B5EF4-FFF2-40B4-BE49-F238E27FC236}">
                <a16:creationId xmlns:a16="http://schemas.microsoft.com/office/drawing/2014/main" id="{F90C6808-B6A1-7E82-85BF-EE92CBEB81C5}"/>
              </a:ext>
            </a:extLst>
          </p:cNvPr>
          <p:cNvSpPr txBox="1"/>
          <p:nvPr/>
        </p:nvSpPr>
        <p:spPr>
          <a:xfrm>
            <a:off x="400516" y="2490831"/>
            <a:ext cx="275613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dirty="0"/>
          </a:p>
        </p:txBody>
      </p:sp>
      <p:pic>
        <p:nvPicPr>
          <p:cNvPr id="460" name="Imagem 10" descr="Imagem 10">
            <a:extLst>
              <a:ext uri="{FF2B5EF4-FFF2-40B4-BE49-F238E27FC236}">
                <a16:creationId xmlns:a16="http://schemas.microsoft.com/office/drawing/2014/main" id="{0922496C-D297-6CBC-E21A-816299E1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A440293-CBCA-FB70-C2A9-C6FE68229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45" y="5137663"/>
            <a:ext cx="1555632" cy="1928207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5366218-23F0-F03D-807B-8BD50991965B}"/>
              </a:ext>
            </a:extLst>
          </p:cNvPr>
          <p:cNvSpPr txBox="1"/>
          <p:nvPr/>
        </p:nvSpPr>
        <p:spPr>
          <a:xfrm>
            <a:off x="400516" y="2093980"/>
            <a:ext cx="2756131" cy="353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pt-BR" sz="1600" b="1" dirty="0"/>
              <a:t>Projeção baseada apenas em dados confiáveis.</a:t>
            </a:r>
          </a:p>
          <a:p>
            <a:endParaRPr lang="pt-BR" sz="1600" dirty="0"/>
          </a:p>
          <a:p>
            <a:r>
              <a:rPr lang="pt-BR" sz="1600" dirty="0"/>
              <a:t>57% das matrículas foram registradas em D-1 com menos de 1 atividade ,registro retroativo, jornada comercial irreal. Usar esses dados geraria projeção otimista, mas não confiável</a:t>
            </a:r>
          </a:p>
          <a:p>
            <a:endParaRPr lang="pt-BR" sz="1600" dirty="0"/>
          </a:p>
          <a:p>
            <a:r>
              <a:rPr lang="pt-BR" sz="1600" dirty="0"/>
              <a:t>Preferimos projeção conservadora e realista.</a:t>
            </a:r>
          </a:p>
          <a:p>
            <a:pPr>
              <a:defRPr sz="1600">
                <a:latin typeface="Avenir Light"/>
                <a:ea typeface="Avenir Light"/>
                <a:cs typeface="Avenir Light"/>
                <a:sym typeface="Avenir Light"/>
              </a:defRPr>
            </a:pPr>
            <a:endParaRPr lang="pt-BR" i="1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DDB9A1A-F3B3-019A-424D-B135094AF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877977"/>
              </p:ext>
            </p:extLst>
          </p:nvPr>
        </p:nvGraphicFramePr>
        <p:xfrm>
          <a:off x="5757475" y="427313"/>
          <a:ext cx="4151024" cy="109728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2075512">
                  <a:extLst>
                    <a:ext uri="{9D8B030D-6E8A-4147-A177-3AD203B41FA5}">
                      <a16:colId xmlns:a16="http://schemas.microsoft.com/office/drawing/2014/main" val="3599561778"/>
                    </a:ext>
                  </a:extLst>
                </a:gridCol>
                <a:gridCol w="2075512">
                  <a:extLst>
                    <a:ext uri="{9D8B030D-6E8A-4147-A177-3AD203B41FA5}">
                      <a16:colId xmlns:a16="http://schemas.microsoft.com/office/drawing/2014/main" val="2788532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Métrica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Valor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97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META Ciclo 26.1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800 alunos</a:t>
                      </a:r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64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Realizado (até 20/02)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557 alunos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121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/>
                        <a:t>GAP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205 alunos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54958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E80E20E-C8A9-45C9-CE79-7FEBD6691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982814"/>
              </p:ext>
            </p:extLst>
          </p:nvPr>
        </p:nvGraphicFramePr>
        <p:xfrm>
          <a:off x="3690230" y="1699988"/>
          <a:ext cx="8388324" cy="192024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198332">
                  <a:extLst>
                    <a:ext uri="{9D8B030D-6E8A-4147-A177-3AD203B41FA5}">
                      <a16:colId xmlns:a16="http://schemas.microsoft.com/office/drawing/2014/main" val="2189069904"/>
                    </a:ext>
                  </a:extLst>
                </a:gridCol>
                <a:gridCol w="1198332">
                  <a:extLst>
                    <a:ext uri="{9D8B030D-6E8A-4147-A177-3AD203B41FA5}">
                      <a16:colId xmlns:a16="http://schemas.microsoft.com/office/drawing/2014/main" val="907925131"/>
                    </a:ext>
                  </a:extLst>
                </a:gridCol>
                <a:gridCol w="1198332">
                  <a:extLst>
                    <a:ext uri="{9D8B030D-6E8A-4147-A177-3AD203B41FA5}">
                      <a16:colId xmlns:a16="http://schemas.microsoft.com/office/drawing/2014/main" val="238663233"/>
                    </a:ext>
                  </a:extLst>
                </a:gridCol>
                <a:gridCol w="1198332">
                  <a:extLst>
                    <a:ext uri="{9D8B030D-6E8A-4147-A177-3AD203B41FA5}">
                      <a16:colId xmlns:a16="http://schemas.microsoft.com/office/drawing/2014/main" val="1412148018"/>
                    </a:ext>
                  </a:extLst>
                </a:gridCol>
                <a:gridCol w="1198332">
                  <a:extLst>
                    <a:ext uri="{9D8B030D-6E8A-4147-A177-3AD203B41FA5}">
                      <a16:colId xmlns:a16="http://schemas.microsoft.com/office/drawing/2014/main" val="1160418270"/>
                    </a:ext>
                  </a:extLst>
                </a:gridCol>
                <a:gridCol w="1198332">
                  <a:extLst>
                    <a:ext uri="{9D8B030D-6E8A-4147-A177-3AD203B41FA5}">
                      <a16:colId xmlns:a16="http://schemas.microsoft.com/office/drawing/2014/main" val="4219970947"/>
                    </a:ext>
                  </a:extLst>
                </a:gridCol>
                <a:gridCol w="1198332">
                  <a:extLst>
                    <a:ext uri="{9D8B030D-6E8A-4147-A177-3AD203B41FA5}">
                      <a16:colId xmlns:a16="http://schemas.microsoft.com/office/drawing/2014/main" val="169578198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Faixa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Em Qual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Mat Esp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Acumulado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Real + Proj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vs Meta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Status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7896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D-1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530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2-7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8195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8-30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6276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31-90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30*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5684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&gt; 90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181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2182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95*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-110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b="1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529063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E1EB57E-257C-ABED-F3F1-20EA5C19A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51223"/>
              </p:ext>
            </p:extLst>
          </p:nvPr>
        </p:nvGraphicFramePr>
        <p:xfrm>
          <a:off x="3690230" y="3863695"/>
          <a:ext cx="8388325" cy="137160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1677665">
                  <a:extLst>
                    <a:ext uri="{9D8B030D-6E8A-4147-A177-3AD203B41FA5}">
                      <a16:colId xmlns:a16="http://schemas.microsoft.com/office/drawing/2014/main" val="964981815"/>
                    </a:ext>
                  </a:extLst>
                </a:gridCol>
                <a:gridCol w="1677665">
                  <a:extLst>
                    <a:ext uri="{9D8B030D-6E8A-4147-A177-3AD203B41FA5}">
                      <a16:colId xmlns:a16="http://schemas.microsoft.com/office/drawing/2014/main" val="2802473090"/>
                    </a:ext>
                  </a:extLst>
                </a:gridCol>
                <a:gridCol w="1677665">
                  <a:extLst>
                    <a:ext uri="{9D8B030D-6E8A-4147-A177-3AD203B41FA5}">
                      <a16:colId xmlns:a16="http://schemas.microsoft.com/office/drawing/2014/main" val="2439898297"/>
                    </a:ext>
                  </a:extLst>
                </a:gridCol>
                <a:gridCol w="1677665">
                  <a:extLst>
                    <a:ext uri="{9D8B030D-6E8A-4147-A177-3AD203B41FA5}">
                      <a16:colId xmlns:a16="http://schemas.microsoft.com/office/drawing/2014/main" val="2920759616"/>
                    </a:ext>
                  </a:extLst>
                </a:gridCol>
                <a:gridCol w="1677665">
                  <a:extLst>
                    <a:ext uri="{9D8B030D-6E8A-4147-A177-3AD203B41FA5}">
                      <a16:colId xmlns:a16="http://schemas.microsoft.com/office/drawing/2014/main" val="1511306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Cenário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Faixas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Mat Esp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Total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vs Meta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2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Conservador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Só 8-30 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990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Confiável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8-30d + 31-90d + &gt;90d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2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Otimista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Todas as faixas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-110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77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PARA BATER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805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05084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ED19-9960-267D-E41D-42E92E1C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>
            <a:extLst>
              <a:ext uri="{FF2B5EF4-FFF2-40B4-BE49-F238E27FC236}">
                <a16:creationId xmlns:a16="http://schemas.microsoft.com/office/drawing/2014/main" id="{559D2425-ED70-56A3-0F13-901CA6C4E0A4}"/>
              </a:ext>
            </a:extLst>
          </p:cNvPr>
          <p:cNvSpPr/>
          <p:nvPr/>
        </p:nvSpPr>
        <p:spPr>
          <a:xfrm rot="16200000">
            <a:off x="-208485" y="0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1A1054-A124-C16A-AA56-E77753B02945}"/>
              </a:ext>
            </a:extLst>
          </p:cNvPr>
          <p:cNvSpPr/>
          <p:nvPr/>
        </p:nvSpPr>
        <p:spPr>
          <a:xfrm>
            <a:off x="6536272" y="921084"/>
            <a:ext cx="5235089" cy="5235089"/>
          </a:xfrm>
          <a:prstGeom prst="ellipse">
            <a:avLst/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Espaço Reservado para Texto 6">
            <a:extLst>
              <a:ext uri="{FF2B5EF4-FFF2-40B4-BE49-F238E27FC236}">
                <a16:creationId xmlns:a16="http://schemas.microsoft.com/office/drawing/2014/main" id="{EF772145-1299-3719-670C-3963E1C4D9A4}"/>
              </a:ext>
            </a:extLst>
          </p:cNvPr>
          <p:cNvSpPr txBox="1"/>
          <p:nvPr/>
        </p:nvSpPr>
        <p:spPr>
          <a:xfrm>
            <a:off x="7620311" y="3030799"/>
            <a:ext cx="273789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>
            <a:lvl1pPr defTabSz="457200">
              <a:lnSpc>
                <a:spcPct val="70000"/>
              </a:lnSpc>
              <a:defRPr sz="3000">
                <a:solidFill>
                  <a:srgbClr val="F5BF51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pPr>
              <a:lnSpc>
                <a:spcPct val="100000"/>
              </a:lnSpc>
            </a:pPr>
            <a:r>
              <a:rPr lang="pt-BR" b="1" dirty="0"/>
              <a:t>Próximas questões</a:t>
            </a:r>
          </a:p>
        </p:txBody>
      </p:sp>
      <p:pic>
        <p:nvPicPr>
          <p:cNvPr id="13" name="Imagem 12" descr="Pessoas posando para foto&#10;&#10;O conteúdo gerado por IA pode estar incorreto.">
            <a:extLst>
              <a:ext uri="{FF2B5EF4-FFF2-40B4-BE49-F238E27FC236}">
                <a16:creationId xmlns:a16="http://schemas.microsoft.com/office/drawing/2014/main" id="{34055065-8599-C1FE-D67A-5F7EC55038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6" r="10823" b="483"/>
          <a:stretch>
            <a:fillRect/>
          </a:stretch>
        </p:blipFill>
        <p:spPr>
          <a:xfrm>
            <a:off x="280919" y="733705"/>
            <a:ext cx="5396400" cy="5370243"/>
          </a:xfrm>
          <a:custGeom>
            <a:avLst/>
            <a:gdLst>
              <a:gd name="csX0" fmla="*/ 2342213 w 5396400"/>
              <a:gd name="csY0" fmla="*/ 0 h 5370243"/>
              <a:gd name="csX1" fmla="*/ 3054187 w 5396400"/>
              <a:gd name="csY1" fmla="*/ 0 h 5370243"/>
              <a:gd name="csX2" fmla="*/ 3241982 w 5396400"/>
              <a:gd name="csY2" fmla="*/ 28661 h 5370243"/>
              <a:gd name="csX3" fmla="*/ 5396400 w 5396400"/>
              <a:gd name="csY3" fmla="*/ 2672043 h 5370243"/>
              <a:gd name="csX4" fmla="*/ 2698200 w 5396400"/>
              <a:gd name="csY4" fmla="*/ 5370243 h 5370243"/>
              <a:gd name="csX5" fmla="*/ 0 w 5396400"/>
              <a:gd name="csY5" fmla="*/ 2672043 h 5370243"/>
              <a:gd name="csX6" fmla="*/ 2154419 w 5396400"/>
              <a:gd name="csY6" fmla="*/ 28661 h 5370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96400" h="5370243">
                <a:moveTo>
                  <a:pt x="2342213" y="0"/>
                </a:moveTo>
                <a:lnTo>
                  <a:pt x="3054187" y="0"/>
                </a:lnTo>
                <a:lnTo>
                  <a:pt x="3241982" y="28661"/>
                </a:lnTo>
                <a:cubicBezTo>
                  <a:pt x="4471506" y="280258"/>
                  <a:pt x="5396400" y="1368140"/>
                  <a:pt x="5396400" y="2672043"/>
                </a:cubicBezTo>
                <a:cubicBezTo>
                  <a:pt x="5396400" y="4162218"/>
                  <a:pt x="4188375" y="5370243"/>
                  <a:pt x="2698200" y="5370243"/>
                </a:cubicBezTo>
                <a:cubicBezTo>
                  <a:pt x="1208025" y="5370243"/>
                  <a:pt x="0" y="4162218"/>
                  <a:pt x="0" y="2672043"/>
                </a:cubicBezTo>
                <a:cubicBezTo>
                  <a:pt x="0" y="1368140"/>
                  <a:pt x="924894" y="280258"/>
                  <a:pt x="2154419" y="286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59531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950A-B47F-CB86-562E-C18AAE14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aixaDeTexto 7">
            <a:extLst>
              <a:ext uri="{FF2B5EF4-FFF2-40B4-BE49-F238E27FC236}">
                <a16:creationId xmlns:a16="http://schemas.microsoft.com/office/drawing/2014/main" id="{7F9DE57D-C4DF-59DE-EEC0-8228CE86C74D}"/>
              </a:ext>
            </a:extLst>
          </p:cNvPr>
          <p:cNvSpPr txBox="1"/>
          <p:nvPr/>
        </p:nvSpPr>
        <p:spPr>
          <a:xfrm>
            <a:off x="2619382" y="6567465"/>
            <a:ext cx="6006539" cy="213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929292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lvl1pPr>
          </a:lstStyle>
          <a:p>
            <a:r>
              <a:t>00/00/25 , confidencialidade, fonte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1787E4-B60E-AC04-37C5-D34CEA45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 A SEREM RESPONDIDAS</a:t>
            </a:r>
            <a:endParaRPr lang="en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804BC6C-5CB6-9C65-662D-D6FBB077F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025919"/>
              </p:ext>
            </p:extLst>
          </p:nvPr>
        </p:nvGraphicFramePr>
        <p:xfrm>
          <a:off x="562130" y="1376288"/>
          <a:ext cx="11310080" cy="3413760"/>
        </p:xfrm>
        <a:graphic>
          <a:graphicData uri="http://schemas.openxmlformats.org/drawingml/2006/table">
            <a:tbl>
              <a:tblPr firstRow="1">
                <a:tableStyleId>{2708684C-4D16-4618-839F-0558EEFCDFE6}</a:tableStyleId>
              </a:tblPr>
              <a:tblGrid>
                <a:gridCol w="2827520">
                  <a:extLst>
                    <a:ext uri="{9D8B030D-6E8A-4147-A177-3AD203B41FA5}">
                      <a16:colId xmlns:a16="http://schemas.microsoft.com/office/drawing/2014/main" val="4139300033"/>
                    </a:ext>
                  </a:extLst>
                </a:gridCol>
                <a:gridCol w="2827520">
                  <a:extLst>
                    <a:ext uri="{9D8B030D-6E8A-4147-A177-3AD203B41FA5}">
                      <a16:colId xmlns:a16="http://schemas.microsoft.com/office/drawing/2014/main" val="3967394378"/>
                    </a:ext>
                  </a:extLst>
                </a:gridCol>
                <a:gridCol w="2827520">
                  <a:extLst>
                    <a:ext uri="{9D8B030D-6E8A-4147-A177-3AD203B41FA5}">
                      <a16:colId xmlns:a16="http://schemas.microsoft.com/office/drawing/2014/main" val="2873116550"/>
                    </a:ext>
                  </a:extLst>
                </a:gridCol>
                <a:gridCol w="2827520">
                  <a:extLst>
                    <a:ext uri="{9D8B030D-6E8A-4147-A177-3AD203B41FA5}">
                      <a16:colId xmlns:a16="http://schemas.microsoft.com/office/drawing/2014/main" val="3293588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Tema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Pergunta-Chave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Impacto na Receita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Status:</a:t>
                      </a:r>
                    </a:p>
                  </a:txBody>
                  <a:tcPr anchor="ctr">
                    <a:solidFill>
                      <a:srgbClr val="521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9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Descontos</a:t>
                      </a: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Qual o % médio aplicado? Mensalidade + material acumulam?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↓ Reduz receita/lead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7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Bolsas</a:t>
                      </a: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Qual a distribuição (100%, 50%, parcial) nas próprias?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↓ Reduz receita/lead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73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Inadimplência</a:t>
                      </a: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Qual a taxa histórica das próprias?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↓ Reduz matrículas efetivas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124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/>
                        <a:t>Rematrículas</a:t>
                      </a:r>
                      <a:endParaRPr lang="pt-B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/>
                        <a:t>Qual a taxa de renovação ano a ano?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↑ Aumenta base de receita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825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Evasão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Quantos alunos se formam/saem por ciclo?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↓ Reduz base </a:t>
                      </a:r>
                      <a:r>
                        <a:rPr lang="pt-BR" sz="1400" dirty="0" err="1"/>
                        <a:t>rematriculável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17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b="1" dirty="0"/>
                        <a:t>Comprar com 25.1?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Validar metodologia aplicando no ciclo 25.1 para medir acurácia preditiva.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Melhora perspectiva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400" dirty="0"/>
                        <a:t>Em análise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969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46140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C96C-AF18-F903-DBA3-F4E4691B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Retângulo 3">
            <a:extLst>
              <a:ext uri="{FF2B5EF4-FFF2-40B4-BE49-F238E27FC236}">
                <a16:creationId xmlns:a16="http://schemas.microsoft.com/office/drawing/2014/main" id="{97234BD0-F322-5B15-2C96-F268FFC918E0}"/>
              </a:ext>
            </a:extLst>
          </p:cNvPr>
          <p:cNvSpPr/>
          <p:nvPr/>
        </p:nvSpPr>
        <p:spPr>
          <a:xfrm>
            <a:off x="1" y="-1"/>
            <a:ext cx="6096000" cy="6873080"/>
          </a:xfrm>
          <a:prstGeom prst="rect">
            <a:avLst/>
          </a:prstGeom>
          <a:solidFill>
            <a:srgbClr val="FFAD0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Pie 1">
            <a:extLst>
              <a:ext uri="{FF2B5EF4-FFF2-40B4-BE49-F238E27FC236}">
                <a16:creationId xmlns:a16="http://schemas.microsoft.com/office/drawing/2014/main" id="{D0C5B2CA-C4D5-BEB4-4B17-50D7CA0B831A}"/>
              </a:ext>
            </a:extLst>
          </p:cNvPr>
          <p:cNvSpPr/>
          <p:nvPr/>
        </p:nvSpPr>
        <p:spPr>
          <a:xfrm rot="5400000">
            <a:off x="2666999" y="-1"/>
            <a:ext cx="6858000" cy="6858000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8038F0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A59DC3-7263-DEC0-1467-58CA329F2B19}"/>
              </a:ext>
            </a:extLst>
          </p:cNvPr>
          <p:cNvSpPr/>
          <p:nvPr/>
        </p:nvSpPr>
        <p:spPr>
          <a:xfrm>
            <a:off x="3478455" y="811455"/>
            <a:ext cx="5235089" cy="5235089"/>
          </a:xfrm>
          <a:prstGeom prst="ellipse">
            <a:avLst/>
          </a:prstGeom>
          <a:solidFill>
            <a:srgbClr val="5219A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476" name="Espaço Reservado para Texto 12">
            <a:extLst>
              <a:ext uri="{FF2B5EF4-FFF2-40B4-BE49-F238E27FC236}">
                <a16:creationId xmlns:a16="http://schemas.microsoft.com/office/drawing/2014/main" id="{7BF1C8F2-89B8-EA92-464B-2ECB8382C357}"/>
              </a:ext>
            </a:extLst>
          </p:cNvPr>
          <p:cNvSpPr txBox="1"/>
          <p:nvPr/>
        </p:nvSpPr>
        <p:spPr>
          <a:xfrm>
            <a:off x="6907457" y="5346352"/>
            <a:ext cx="5026415" cy="1400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r">
              <a:spcBef>
                <a:spcPts val="1000"/>
              </a:spcBef>
              <a:defRPr sz="1500">
                <a:solidFill>
                  <a:srgbClr val="3B4044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Carlos Porto de Melo - Data </a:t>
            </a:r>
            <a:r>
              <a:rPr lang="pt-BR" dirty="0" err="1"/>
              <a:t>Analyst</a:t>
            </a:r>
            <a:r>
              <a:rPr lang="pt-BR" dirty="0"/>
              <a:t> </a:t>
            </a:r>
            <a:r>
              <a:rPr lang="pt-BR" dirty="0" err="1"/>
              <a:t>Sr</a:t>
            </a:r>
            <a:r>
              <a:rPr lang="pt-BR" dirty="0"/>
              <a:t> </a:t>
            </a:r>
          </a:p>
          <a:p>
            <a:pPr algn="r">
              <a:spcBef>
                <a:spcPts val="1000"/>
              </a:spcBef>
              <a:defRPr sz="1500">
                <a:solidFill>
                  <a:srgbClr val="3B4044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(PRO) GERÊNCIA SR PLANEJAMENTO DE CRESCIMENTO</a:t>
            </a:r>
          </a:p>
          <a:p>
            <a:pPr algn="r">
              <a:spcBef>
                <a:spcPts val="1000"/>
              </a:spcBef>
              <a:defRPr sz="1500">
                <a:solidFill>
                  <a:srgbClr val="3B4044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/>
              <a:t>12-996108814</a:t>
            </a:r>
            <a:endParaRPr dirty="0"/>
          </a:p>
          <a:p>
            <a:pPr algn="r">
              <a:spcBef>
                <a:spcPts val="1000"/>
              </a:spcBef>
              <a:defRPr sz="1500">
                <a:solidFill>
                  <a:srgbClr val="3B4044"/>
                </a:solidFill>
                <a:latin typeface="Axiforma-Light"/>
                <a:ea typeface="Axiforma-Light"/>
                <a:cs typeface="Axiforma-Light"/>
                <a:sym typeface="Axiforma-Light"/>
              </a:defRPr>
            </a:pPr>
            <a:r>
              <a:rPr lang="pt-BR" dirty="0">
                <a:hlinkClick r:id="rId2"/>
              </a:rPr>
              <a:t>carlos.a.melo@saber.com.br</a:t>
            </a:r>
            <a:endParaRPr lang="pt-BR" dirty="0"/>
          </a:p>
        </p:txBody>
      </p:sp>
      <p:pic>
        <p:nvPicPr>
          <p:cNvPr id="477" name="Imagem 9" descr="Imagem 9">
            <a:extLst>
              <a:ext uri="{FF2B5EF4-FFF2-40B4-BE49-F238E27FC236}">
                <a16:creationId xmlns:a16="http://schemas.microsoft.com/office/drawing/2014/main" id="{C462D538-EA90-4954-C9C9-A9A41FA1D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610" y="383691"/>
            <a:ext cx="2305251" cy="768418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Espaço Reservado para Texto 12">
            <a:extLst>
              <a:ext uri="{FF2B5EF4-FFF2-40B4-BE49-F238E27FC236}">
                <a16:creationId xmlns:a16="http://schemas.microsoft.com/office/drawing/2014/main" id="{C18DE99C-EBD6-A8EA-612E-24BE9DA9B895}"/>
              </a:ext>
            </a:extLst>
          </p:cNvPr>
          <p:cNvSpPr txBox="1"/>
          <p:nvPr/>
        </p:nvSpPr>
        <p:spPr>
          <a:xfrm>
            <a:off x="4170364" y="3135550"/>
            <a:ext cx="3953001" cy="60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4000">
                <a:solidFill>
                  <a:srgbClr val="FFFFFF"/>
                </a:solidFill>
                <a:latin typeface="Axiforma-Bold"/>
                <a:ea typeface="Axiforma-Bold"/>
                <a:cs typeface="Axiforma-Bold"/>
                <a:sym typeface="Axiforma-Bold"/>
              </a:defRPr>
            </a:lvl1pPr>
          </a:lstStyle>
          <a:p>
            <a:r>
              <a:t>OBRIGADO (A)</a:t>
            </a:r>
          </a:p>
        </p:txBody>
      </p:sp>
    </p:spTree>
    <p:extLst>
      <p:ext uri="{BB962C8B-B14F-4D97-AF65-F5344CB8AC3E}">
        <p14:creationId xmlns:p14="http://schemas.microsoft.com/office/powerpoint/2010/main" val="186752789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- Cinza Claro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- Cinza Escuro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4697949286FB4089EAC08905B6F7D1" ma:contentTypeVersion="19" ma:contentTypeDescription="Create a new document." ma:contentTypeScope="" ma:versionID="95d36ebfdeb90cb21694d2125b764021">
  <xsd:schema xmlns:xsd="http://www.w3.org/2001/XMLSchema" xmlns:xs="http://www.w3.org/2001/XMLSchema" xmlns:p="http://schemas.microsoft.com/office/2006/metadata/properties" xmlns:ns2="1a00bedf-322f-46cb-af9c-46997b6e6236" xmlns:ns3="6aecacfd-b495-4bd5-861f-943f8b8ac493" targetNamespace="http://schemas.microsoft.com/office/2006/metadata/properties" ma:root="true" ma:fieldsID="46234d34d49b2851fa07c514eef060f2" ns2:_="" ns3:_="">
    <xsd:import namespace="1a00bedf-322f-46cb-af9c-46997b6e6236"/>
    <xsd:import namespace="6aecacfd-b495-4bd5-861f-943f8b8ac4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0bedf-322f-46cb-af9c-46997b6e62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ecacfd-b495-4bd5-861f-943f8b8ac49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9347734-f780-4589-8364-18a9f8880dc2}" ma:internalName="TaxCatchAll" ma:showField="CatchAllData" ma:web="6aecacfd-b495-4bd5-861f-943f8b8ac4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ecacfd-b495-4bd5-861f-943f8b8ac493" xsi:nil="true"/>
    <lcf76f155ced4ddcb4097134ff3c332f xmlns="1a00bedf-322f-46cb-af9c-46997b6e623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5EA402-A718-4B00-A3E7-100F7C23E3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00bedf-322f-46cb-af9c-46997b6e6236"/>
    <ds:schemaRef ds:uri="6aecacfd-b495-4bd5-861f-943f8b8ac4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F5D3A8-10AD-4B9A-A4B6-AC5A43885C81}">
  <ds:schemaRefs>
    <ds:schemaRef ds:uri="1a00bedf-322f-46cb-af9c-46997b6e6236"/>
    <ds:schemaRef ds:uri="6aecacfd-b495-4bd5-861f-943f8b8ac49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DCCF59-B537-4383-B805-C9CBC10E5F7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3227</Words>
  <Application>Microsoft Office PowerPoint</Application>
  <PresentationFormat>Widescreen</PresentationFormat>
  <Paragraphs>964</Paragraphs>
  <Slides>29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29</vt:i4>
      </vt:variant>
    </vt:vector>
  </HeadingPairs>
  <TitlesOfParts>
    <vt:vector size="40" baseType="lpstr">
      <vt:lpstr>Aptos</vt:lpstr>
      <vt:lpstr>Arial</vt:lpstr>
      <vt:lpstr>Avenir Light</vt:lpstr>
      <vt:lpstr>Axiforma SemiBold</vt:lpstr>
      <vt:lpstr>Axiforma-Bold</vt:lpstr>
      <vt:lpstr>Axiforma-Book</vt:lpstr>
      <vt:lpstr>Axiforma-Light</vt:lpstr>
      <vt:lpstr>Calibri</vt:lpstr>
      <vt:lpstr>Calibri Light</vt:lpstr>
      <vt:lpstr>Tema - Cinza Claro</vt:lpstr>
      <vt:lpstr>Tema - Cinza Escuro</vt:lpstr>
      <vt:lpstr>Apresentação do PowerPoint</vt:lpstr>
      <vt:lpstr>Apresentação do PowerPoint</vt:lpstr>
      <vt:lpstr>Fluxo Geral Red Balloon </vt:lpstr>
      <vt:lpstr>O que é o HubSpot? O sistema onde registramos todos os leads e acompanhamos a jornada comercial</vt:lpstr>
      <vt:lpstr>Quem é a Secretária? Executa a prospecção ativa, o registro de entradas presenciais (Off-line) e a conversão, gerenciando o lead até a matrícula. </vt:lpstr>
      <vt:lpstr>Origem do Tráfego: A Porta de Entrada Origem de tráfego é o registro da "porta de entrada" que registra por onde o responsável nos conheceu/captado antes de se virar lead (cadastro) no HubSpot. </vt:lpstr>
      <vt:lpstr>Apresentação do PowerPoint</vt:lpstr>
      <vt:lpstr>Jornada do Lead no HubSpot As 8 etapas do pipeline comercial Red Balloon </vt:lpstr>
      <vt:lpstr>Apresentação do PowerPoint</vt:lpstr>
      <vt:lpstr>109.719 totais no hubspot: Números extraídos da plataforma até 01/03/2026.</vt:lpstr>
      <vt:lpstr>Análise de origem do tráfego: Números extraídos da plataforma até 01/03/2026.</vt:lpstr>
      <vt:lpstr>Pontos de atenção:  ⚠️ Por que esses números não refletem a realidade?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PERGUNTAS A SEREM RESPONDIDAS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Ailton Porto De Melo</dc:creator>
  <cp:lastModifiedBy>Carlos Ailton Porto De Melo</cp:lastModifiedBy>
  <cp:revision>10</cp:revision>
  <dcterms:modified xsi:type="dcterms:W3CDTF">2026-03-02T20:53:38Z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0x0101009E4697949286FB4089EAC08905B6F7D1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Tema do Office:6</vt:lpwstr>
  </property>
  <property fmtid="{D5CDD505-2E9C-101B-9397-08002B2CF9AE}" pid="5" name="ClassificationContentMarkingFooterText">
    <vt:lpwstr>Público</vt:lpwstr>
  </property>
</Properties>
</file>