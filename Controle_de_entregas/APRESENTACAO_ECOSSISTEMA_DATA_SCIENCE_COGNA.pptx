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54" r:id="rId5"/>
  </p:sldMasterIdLst>
  <p:notesMasterIdLst>
    <p:notesMasterId r:id="rId43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EEF"/>
    <a:srgbClr val="D7DBDD"/>
    <a:srgbClr val="F68220"/>
    <a:srgbClr val="002BCC"/>
    <a:srgbClr val="E31C79"/>
    <a:srgbClr val="03C948"/>
    <a:srgbClr val="FFAD01"/>
    <a:srgbClr val="5219A1"/>
    <a:srgbClr val="8038F0"/>
    <a:srgbClr val="01C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DF77DB-E030-686A-020F-00C6C0DC1168}" v="97" dt="2025-12-09T20:05:44.053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0E0E0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0F0F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4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84"/>
  </p:normalViewPr>
  <p:slideViewPr>
    <p:cSldViewPr snapToGrid="0">
      <p:cViewPr varScale="1">
        <p:scale>
          <a:sx n="122" d="100"/>
          <a:sy n="122" d="100"/>
        </p:scale>
        <p:origin x="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Relationship Id="rId4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Vinicius Costa Santos" userId="S::pedro.v.santos@kroton.com.br::bb8f04a0-c86c-4172-b2b0-d8788b1e2958" providerId="AD" clId="Web-{E1DF77DB-E030-686A-020F-00C6C0DC1168}"/>
    <pc:docChg chg="modSld">
      <pc:chgData name="Pedro Vinicius Costa Santos" userId="S::pedro.v.santos@kroton.com.br::bb8f04a0-c86c-4172-b2b0-d8788b1e2958" providerId="AD" clId="Web-{E1DF77DB-E030-686A-020F-00C6C0DC1168}" dt="2025-12-09T20:05:43.459" v="48" actId="20577"/>
      <pc:docMkLst>
        <pc:docMk/>
      </pc:docMkLst>
      <pc:sldChg chg="modSp">
        <pc:chgData name="Pedro Vinicius Costa Santos" userId="S::pedro.v.santos@kroton.com.br::bb8f04a0-c86c-4172-b2b0-d8788b1e2958" providerId="AD" clId="Web-{E1DF77DB-E030-686A-020F-00C6C0DC1168}" dt="2025-12-09T20:05:43.459" v="48" actId="20577"/>
        <pc:sldMkLst>
          <pc:docMk/>
          <pc:sldMk cId="0" sldId="256"/>
        </pc:sldMkLst>
        <pc:spChg chg="mod">
          <ac:chgData name="Pedro Vinicius Costa Santos" userId="S::pedro.v.santos@kroton.com.br::bb8f04a0-c86c-4172-b2b0-d8788b1e2958" providerId="AD" clId="Web-{E1DF77DB-E030-686A-020F-00C6C0DC1168}" dt="2025-12-09T20:05:36.912" v="47" actId="20577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Pedro Vinicius Costa Santos" userId="S::pedro.v.santos@kroton.com.br::bb8f04a0-c86c-4172-b2b0-d8788b1e2958" providerId="AD" clId="Web-{E1DF77DB-E030-686A-020F-00C6C0DC1168}" dt="2025-12-09T20:05:43.459" v="48" actId="20577"/>
          <ac:spMkLst>
            <pc:docMk/>
            <pc:sldMk cId="0" sldId="256"/>
            <ac:spMk id="101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INZA CL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Inf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10" descr="Imagem 10">
            <a:extLst>
              <a:ext uri="{FF2B5EF4-FFF2-40B4-BE49-F238E27FC236}">
                <a16:creationId xmlns:a16="http://schemas.microsoft.com/office/drawing/2014/main" id="{DFED7403-6140-3DCD-5EEC-60E0DF2FC9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39045" y="6196357"/>
            <a:ext cx="1445023" cy="4816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Lat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5" descr="Imagem 5">
            <a:extLst>
              <a:ext uri="{FF2B5EF4-FFF2-40B4-BE49-F238E27FC236}">
                <a16:creationId xmlns:a16="http://schemas.microsoft.com/office/drawing/2014/main" id="{9AEE2207-9D70-DC20-5F3C-EF71B3D866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11072445" y="680248"/>
            <a:ext cx="1445023" cy="48167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4530477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>
            <a:extLst>
              <a:ext uri="{FF2B5EF4-FFF2-40B4-BE49-F238E27FC236}">
                <a16:creationId xmlns:a16="http://schemas.microsoft.com/office/drawing/2014/main" id="{C9D7C112-E13D-F51F-A9D2-991E0F5950DB}"/>
              </a:ext>
            </a:extLst>
          </p:cNvPr>
          <p:cNvSpPr/>
          <p:nvPr userDrawn="1"/>
        </p:nvSpPr>
        <p:spPr>
          <a:xfrm rot="16200000">
            <a:off x="310926" y="428220"/>
            <a:ext cx="674433" cy="674433"/>
          </a:xfrm>
          <a:prstGeom prst="pie">
            <a:avLst>
              <a:gd name="adj1" fmla="val 0"/>
              <a:gd name="adj2" fmla="val 10821850"/>
            </a:avLst>
          </a:prstGeom>
          <a:solidFill>
            <a:srgbClr val="FFAD0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9A8E63C-2B04-226E-4A9D-56968FEE30E6}"/>
              </a:ext>
            </a:extLst>
          </p:cNvPr>
          <p:cNvSpPr/>
          <p:nvPr userDrawn="1"/>
        </p:nvSpPr>
        <p:spPr>
          <a:xfrm>
            <a:off x="398907" y="514643"/>
            <a:ext cx="501586" cy="501586"/>
          </a:xfrm>
          <a:prstGeom prst="ellipse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3" name="Imagem 10" descr="Imagem 10">
            <a:extLst>
              <a:ext uri="{FF2B5EF4-FFF2-40B4-BE49-F238E27FC236}">
                <a16:creationId xmlns:a16="http://schemas.microsoft.com/office/drawing/2014/main" id="{4D628912-E256-54CC-C36D-CF7FB7E153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39045" y="6196357"/>
            <a:ext cx="1445023" cy="481675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7">
            <a:extLst>
              <a:ext uri="{FF2B5EF4-FFF2-40B4-BE49-F238E27FC236}">
                <a16:creationId xmlns:a16="http://schemas.microsoft.com/office/drawing/2014/main" id="{10C313E2-6456-72BD-C5C0-1A658B6CA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777" y="450930"/>
            <a:ext cx="10515600" cy="662782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rgbClr val="5219A1"/>
                </a:solidFill>
                <a:latin typeface="Axiforma SemiBold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19000279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NZA 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55060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Inf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10" descr="Imagem 10">
            <a:extLst>
              <a:ext uri="{FF2B5EF4-FFF2-40B4-BE49-F238E27FC236}">
                <a16:creationId xmlns:a16="http://schemas.microsoft.com/office/drawing/2014/main" id="{DFED7403-6140-3DCD-5EEC-60E0DF2FC9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39045" y="6196357"/>
            <a:ext cx="1445023" cy="48167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94643743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Lat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5" descr="Imagem 5">
            <a:extLst>
              <a:ext uri="{FF2B5EF4-FFF2-40B4-BE49-F238E27FC236}">
                <a16:creationId xmlns:a16="http://schemas.microsoft.com/office/drawing/2014/main" id="{9AEE2207-9D70-DC20-5F3C-EF71B3D866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11072445" y="680248"/>
            <a:ext cx="1445023" cy="48167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04521402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437E082-0F8B-36D1-D4ED-6350430C165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4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l" defTabSz="914400" rtl="0" eaLnBrk="1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7D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437E082-0F8B-36D1-D4ED-6350430C165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4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  <p:extLst>
      <p:ext uri="{BB962C8B-B14F-4D97-AF65-F5344CB8AC3E}">
        <p14:creationId xmlns:p14="http://schemas.microsoft.com/office/powerpoint/2010/main" val="352558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p:transition spd="med"/>
  <p:txStyles>
    <p:titleStyle>
      <a:lvl1pPr marL="0" marR="0" indent="0" algn="l" defTabSz="914400" rtl="0" eaLnBrk="1" fontAlgn="auto" latinLnBrk="0" hangingPunct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ECOSSISTEMA DE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C3C3C"/>
                </a:solidFill>
              </a:defRPr>
            </a:pPr>
            <a:r>
              <a:t>Arquitetura, Automação e Machine Learning em Produção</a:t>
            </a:r>
            <a:br/>
            <a:br/>
            <a:r>
              <a:t>Período: Outubro 2025 - Fevereiro 2026 (4 meses)</a:t>
            </a:r>
            <a:br/>
            <a:r>
              <a:t>Status: Operacional e Escalável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1. Escopo e Objetivos do Projeto</a:t>
            </a:r>
            <a:br/>
            <a:br/>
            <a:r>
              <a:t>2. Arquitetura Implementada</a:t>
            </a:r>
            <a:br/>
            <a:br/>
            <a:r>
              <a:t>3. Componentes Técnicos</a:t>
            </a:r>
            <a:br/>
            <a:br/>
            <a:r>
              <a:t>4. Projetos em Produção</a:t>
            </a:r>
            <a:br/>
            <a:br/>
            <a:r>
              <a:t>5. Resultados e Impacto</a:t>
            </a:r>
            <a:br/>
            <a:br/>
            <a:r>
              <a:t>6. Lições Aprendidas e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46464"/>
                </a:solidFill>
              </a:defRPr>
            </a:pPr>
            <a:r>
              <a:t>SEÇÃO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ESCOPO DO PROJETO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ESCOPO E 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🎯 Objetivo Principal</a:t>
            </a:r>
            <a:br/>
            <a:r>
              <a:t>   Criar do zero um ecossistema profissional de Data Science</a:t>
            </a:r>
            <a:br/>
            <a:br/>
            <a:r>
              <a:t>📊 Escopo Implementado</a:t>
            </a:r>
            <a:br/>
            <a:r>
              <a:t>   • 1.42 GB de dados estruturados</a:t>
            </a:r>
            <a:br/>
            <a:r>
              <a:t>   • Arquitetura em 4 camadas</a:t>
            </a:r>
            <a:br/>
            <a:r>
              <a:t>   • 2 projetos ML em produção</a:t>
            </a:r>
            <a:br/>
            <a:r>
              <a:t>   • 4 scripts de automação</a:t>
            </a:r>
            <a:br/>
            <a:br/>
            <a:r>
              <a:t>⏱️ Timeline: Outubro 2025 - Fevereiro 2026 (4 meses)</a:t>
            </a:r>
            <a:br/>
            <a:br/>
            <a:r>
              <a:t>🏗️ Governança: SSOT + Automação + 1.581 arquivos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46464"/>
                </a:solidFill>
              </a:defRPr>
            </a:pPr>
            <a:r>
              <a:t>SEÇÃO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ARQUITETURA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PRINCÍPIOS ARQUITETURAIS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1️⃣ Single Source of Truth</a:t>
            </a:r>
            <a:br/>
            <a:r>
              <a:t>   Uma versão oficial</a:t>
            </a:r>
            <a:br/>
            <a:br/>
            <a:r>
              <a:t>2️⃣ Don't Repeat Yourself</a:t>
            </a:r>
            <a:br/>
            <a:r>
              <a:t>   Scripts reutilizáveis</a:t>
            </a:r>
            <a:br/>
            <a:br/>
            <a:r>
              <a:t>3️⃣ Separação por Função</a:t>
            </a:r>
            <a:br/>
            <a:r>
              <a:t>   Por propósito, não pessoa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4️⃣ Nomenclatura Clara</a:t>
            </a:r>
            <a:br/>
            <a:r>
              <a:t>   Prefixos = prioridade</a:t>
            </a:r>
            <a:br/>
            <a:br/>
            <a:r>
              <a:t>5️⃣ Versionamento</a:t>
            </a:r>
            <a:br/>
            <a:r>
              <a:t>   Histórico + backup</a:t>
            </a:r>
            <a:br/>
            <a:br/>
            <a:r>
              <a:t>6️⃣ Automação First</a:t>
            </a:r>
            <a:br/>
            <a:r>
              <a:t>   Se faz &gt;3x, automatize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ARQUITETURA EM 4 CAMADAS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🏗️ CAMADA 1: Infraestrutura Central</a:t>
            </a:r>
            <a:br/>
            <a:r>
              <a:t>   _DADOS_CENTRALIZADOS, _SCRIPTS_COMPARTILHADOS</a:t>
            </a:r>
            <a:br/>
            <a:br/>
            <a:r>
              <a:t>🚀 CAMADA 2: Produção (Prioridade Máxima)</a:t>
            </a:r>
            <a:br/>
            <a:r>
              <a:t>   01_Helio_ML_Producao, 02_Pipeline_Midia_Paga</a:t>
            </a:r>
            <a:br/>
            <a:br/>
            <a:r>
              <a:t>📊 CAMADA 3: Análises Operacionais</a:t>
            </a:r>
            <a:br/>
            <a:r>
              <a:t>   03_Analises_Operacionais (4 projetos)</a:t>
            </a:r>
            <a:br/>
            <a:br/>
            <a:r>
              <a:t>🔍 CAMADA 4: Auditorias &amp; Pesquisas</a:t>
            </a:r>
            <a:br/>
            <a:r>
              <a:t>   04_Auditorias, 05_Pesquisas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46464"/>
                </a:solidFill>
              </a:defRPr>
            </a:pPr>
            <a:r>
              <a:t>SEÇÃO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COMPONENTES TÉCNICOS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_DADOS_CENTRALIZADOS/ (SSOT)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📁 Estrutura:</a:t>
            </a:r>
            <a:br/>
            <a:r>
              <a:t>   • hubspot/ (40 MB) - Leads + Negócios</a:t>
            </a:r>
            <a:br/>
            <a:r>
              <a:t>   • matriculas/ (0.95 MB) - Matrículas</a:t>
            </a:r>
            <a:br/>
            <a:r>
              <a:t>   • marketing/ (0.15 MB) - Meta Ads</a:t>
            </a:r>
            <a:br/>
            <a:br/>
            <a:r>
              <a:t>🔄 Versionamento:</a:t>
            </a:r>
            <a:br/>
            <a:r>
              <a:t>   • _ATUAL.csv = versão oficial</a:t>
            </a:r>
            <a:br/>
            <a:r>
              <a:t>   • historico/ = versões anteriores</a:t>
            </a:r>
            <a:br/>
            <a:br/>
            <a:r>
              <a:t>✅ Benefícios:</a:t>
            </a:r>
            <a:br/>
            <a:r>
              <a:t>   Zero inconsistências + Rastreabilidade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_SCRIPTS_COMPARTILHADOS/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4 utilitários Python desenvolvidos:</a:t>
            </a:r>
            <a:br/>
            <a:br/>
            <a:r>
              <a:t>1️⃣ sincronizar_bases.py</a:t>
            </a:r>
            <a:br/>
            <a:r>
              <a:t>   Sincronização automática</a:t>
            </a:r>
            <a:br/>
            <a:br/>
            <a:r>
              <a:t>2️⃣ validar_reorganizacao.py</a:t>
            </a:r>
            <a:br/>
            <a:r>
              <a:t>   Validação de integridade</a:t>
            </a:r>
            <a:br/>
            <a:br/>
            <a:r>
              <a:t>3️⃣ inventario_projetos.py</a:t>
            </a:r>
            <a:br/>
            <a:r>
              <a:t>   Catalogação de 1.581 arquivos</a:t>
            </a:r>
            <a:br/>
            <a:br/>
            <a:r>
              <a:t>4️⃣ analisar_duplicacoes.py</a:t>
            </a:r>
            <a:br/>
            <a:r>
              <a:t>   Detecção MD5 (212 grupos)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46464"/>
                </a:solidFill>
              </a:defRPr>
            </a:pPr>
            <a:r>
              <a:t>SEÇÃO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PROJETOS EM PRODUÇÃO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01_HELIO ML - Lead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🎯 Objetivo: Previsão de conversão com Random Forest</a:t>
            </a:r>
            <a:br/>
            <a:br/>
            <a:r>
              <a:t>🔧 Tecnologia:</a:t>
            </a:r>
            <a:br/>
            <a:r>
              <a:t>   • Random Forest + 30+ features</a:t>
            </a:r>
            <a:br/>
            <a:r>
              <a:t>   • Python + Pandas + Scikit-learn</a:t>
            </a:r>
            <a:br/>
            <a:br/>
            <a:r>
              <a:t>📊 Inputs: 40 MB (HubSpot + Matrículas)</a:t>
            </a:r>
            <a:br/>
            <a:br/>
            <a:r>
              <a:t>📈 Outputs:</a:t>
            </a:r>
            <a:br/>
            <a:r>
              <a:t>   ✅ Leads scorados (0-100%)</a:t>
            </a:r>
            <a:br/>
            <a:r>
              <a:t>   ✅ Relatórios por unidade</a:t>
            </a:r>
            <a:br/>
            <a:br/>
            <a:r>
              <a:t>⏰ Status: Produção ativa (semanal)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02_PIPELINE META ADS + HUBSPOT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🎯 Objetivo: Medir ROI real de campanhas</a:t>
            </a:r>
            <a:br/>
            <a:br/>
            <a:r>
              <a:t>🔗 Integração:</a:t>
            </a:r>
            <a:br/>
            <a:r>
              <a:t>   • Meta Ads API (gastos, cliques)</a:t>
            </a:r>
            <a:br/>
            <a:r>
              <a:t>   • HubSpot (leads, receita)</a:t>
            </a:r>
            <a:br/>
            <a:r>
              <a:t>   • Cruzamento via UTMs</a:t>
            </a:r>
            <a:br/>
            <a:br/>
            <a:r>
              <a:t>📊 Análises:</a:t>
            </a:r>
            <a:br/>
            <a:r>
              <a:t>   • ROI, CPL, CPA por campanha</a:t>
            </a:r>
            <a:br/>
            <a:r>
              <a:t>   • Recomendações de budget</a:t>
            </a:r>
            <a:br/>
            <a:br/>
            <a:r>
              <a:t>⏰ Status: Produção ativa (semanal)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46464"/>
                </a:solidFill>
              </a:defRPr>
            </a:pPr>
            <a:r>
              <a:t>SEÇÃO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RESULTADOS E IMPACTO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RESULTADOS QUANTITATIVOS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📦 Otimização</a:t>
            </a:r>
            <a:br/>
            <a:r>
              <a:t>   330 MB otimizados</a:t>
            </a:r>
            <a:br/>
            <a:br/>
            <a:r>
              <a:t>🔍 Duplicações</a:t>
            </a:r>
            <a:br/>
            <a:r>
              <a:t>   212 grupos tratados</a:t>
            </a:r>
            <a:br/>
            <a:br/>
            <a:r>
              <a:t>🏗️ Estrutura</a:t>
            </a:r>
            <a:br/>
            <a:r>
              <a:t>   4 camadas / 9 categorias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✅ Governança</a:t>
            </a:r>
            <a:br/>
            <a:r>
              <a:t>   1 fonte oficial (SSOT)</a:t>
            </a:r>
            <a:br/>
            <a:br/>
            <a:r>
              <a:t>💾 Backup</a:t>
            </a:r>
            <a:br/>
            <a:r>
              <a:t>   15 versões históricas</a:t>
            </a:r>
            <a:br/>
            <a:br/>
            <a:r>
              <a:t>⚙️ Automação</a:t>
            </a:r>
            <a:br/>
            <a:r>
              <a:t>   4 scripts 100% funcionais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RESULTADOS QUALITATIVOS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⚡ Eficiência: 70% mais eficiente</a:t>
            </a:r>
            <a:br/>
            <a:br/>
            <a:r>
              <a:t>🛡️ Risco: Zero dados desatualizados</a:t>
            </a:r>
            <a:br/>
            <a:br/>
            <a:r>
              <a:t>🚀 Produtividade: Onboarding 3x mais rápido</a:t>
            </a:r>
            <a:br/>
            <a:br/>
            <a:r>
              <a:t>📊 Qualidade: Consistência + Validação</a:t>
            </a:r>
            <a:br/>
            <a:br/>
            <a:r>
              <a:t>💼 Valor: Lead Scoring + ROI em produção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OTIMIZAÇÃO DE RECURSOS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Análise MD5 de 1.581 arquivos:</a:t>
            </a:r>
            <a:br/>
            <a:r>
              <a:t>212 grupos de duplicações identificados</a:t>
            </a:r>
            <a:br/>
            <a:br/>
            <a:r>
              <a:t>Otimizações:</a:t>
            </a:r>
            <a:br/>
            <a:r>
              <a:t>   • Bases HubSpot: 176 MB</a:t>
            </a:r>
            <a:br/>
            <a:r>
              <a:t>   • Outputs ML: 18 MB</a:t>
            </a:r>
            <a:br/>
            <a:r>
              <a:t>   • Relatórios: 45 MB</a:t>
            </a:r>
            <a:br/>
            <a:r>
              <a:t>   • Projetos teste: 90 MB</a:t>
            </a:r>
            <a:br/>
            <a:br/>
            <a:r>
              <a:t>💰 Total: 330 MB otimizados</a:t>
            </a:r>
            <a:br/>
            <a:r>
              <a:t>🛡️ 100% com backup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46464"/>
                </a:solidFill>
              </a:defRPr>
            </a:pPr>
            <a:r>
              <a:t>SEÇÃO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LIÇÕES E ROADMAP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LIÇÕES APRENDIDAS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✅ Princípios:</a:t>
            </a:r>
            <a:br/>
            <a:br/>
            <a:r>
              <a:t>1. Backup sempre</a:t>
            </a:r>
            <a:br/>
            <a:r>
              <a:t>2. Validação automática</a:t>
            </a:r>
            <a:br/>
            <a:r>
              <a:t>3. Documentação</a:t>
            </a:r>
            <a:br/>
            <a:r>
              <a:t>4. Nomenclatura clara</a:t>
            </a:r>
            <a:br/>
            <a:r>
              <a:t>5. Scripts compartilhados</a:t>
            </a:r>
            <a:br/>
            <a:r>
              <a:t>6. Organização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⚠️ Desafios:</a:t>
            </a:r>
            <a:br/>
            <a:br/>
            <a:r>
              <a:t>• Ativos vs inativos</a:t>
            </a:r>
            <a:br/>
            <a:r>
              <a:t>• Caminhos hardcoded</a:t>
            </a:r>
            <a:br/>
            <a:r>
              <a:t>• Arquivar vs deletar</a:t>
            </a:r>
            <a:br/>
            <a:r>
              <a:t>• Duplicatas legítimas</a:t>
            </a:r>
            <a:br/>
            <a:br/>
            <a:r>
              <a:t>💡 Técnica + Governança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ROADMAP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🎯 Q1 2026: Streamlit + PostgreSQL + API REST</a:t>
            </a:r>
            <a:br/>
            <a:br/>
            <a:r>
              <a:t>🚀 Q2-Q3 2026: CI/CD + Monitoring + MLflow</a:t>
            </a:r>
            <a:br/>
            <a:br/>
            <a:r>
              <a:t>🌟 Q4 2026+: Cloud + Data Lake + Feature Store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STACK TECNOLÓGICO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🐍 Python: 3.12 + Pandas + Scikit-learn</a:t>
            </a:r>
            <a:br/>
            <a:br/>
            <a:r>
              <a:t>⚙️ Automação: PowerShell</a:t>
            </a:r>
            <a:br/>
            <a:br/>
            <a:r>
              <a:t>🤖 ML: Random Forest + Feature Engineering</a:t>
            </a:r>
            <a:br/>
            <a:br/>
            <a:r>
              <a:t>🏗️ Arquitetura: SSOT + DRY + Modularização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APLICAÇÃO NA NOVA ÁREA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1️⃣ Capacidade: Ecossistema completo em 4 meses</a:t>
            </a:r>
            <a:br/>
            <a:br/>
            <a:r>
              <a:t>2️⃣ Mentalidade: Construo SISTEMAS, não só análises</a:t>
            </a:r>
            <a:br/>
            <a:br/>
            <a:r>
              <a:t>3️⃣ Eficiência: Automação e eliminação de trabalho manual</a:t>
            </a:r>
            <a:br/>
            <a:br/>
            <a:r>
              <a:t>4️⃣ Documentação: 12 documentos profissionais</a:t>
            </a:r>
            <a:br/>
            <a:br/>
            <a:r>
              <a:t>5️⃣ ML Real: Valor mensurável em produção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DOCUMENTAÇÃO COMPLETA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12+ documentos entregues:</a:t>
            </a:r>
            <a:br/>
            <a:br/>
            <a:r>
              <a:t>• README.md - Visão geral</a:t>
            </a:r>
            <a:br/>
            <a:r>
              <a:t>• PROJETO_DATA_SCIENCE.md - Cronograma</a:t>
            </a:r>
            <a:br/>
            <a:r>
              <a:t>• ARQUITETURA_ECOSSISTEMA.md</a:t>
            </a:r>
            <a:br/>
            <a:r>
              <a:t>• GUIA_USO.md - Manual operacional</a:t>
            </a:r>
            <a:br/>
            <a:r>
              <a:t>• SCRIPT_APRESENTACAO.md</a:t>
            </a:r>
            <a:br/>
            <a:r>
              <a:t>• Inventários + Controle Excel</a:t>
            </a:r>
            <a:br/>
            <a:br/>
            <a:r>
              <a:t>✅ Sistema completamente documentado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00000"/>
                </a:solidFill>
              </a:defRPr>
            </a:pPr>
            <a:r>
              <a:t>PERGUNTAS?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C3C3C"/>
                </a:solidFill>
              </a:defRPr>
            </a:pPr>
            <a:r>
              <a:t>Data Science Team</a:t>
            </a:r>
            <a:br/>
            <a:r>
              <a:t>Fevereiro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- Cinza Claro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o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- Cinza Escuro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o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o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4697949286FB4089EAC08905B6F7D1" ma:contentTypeVersion="19" ma:contentTypeDescription="Create a new document." ma:contentTypeScope="" ma:versionID="95d36ebfdeb90cb21694d2125b764021">
  <xsd:schema xmlns:xsd="http://www.w3.org/2001/XMLSchema" xmlns:xs="http://www.w3.org/2001/XMLSchema" xmlns:p="http://schemas.microsoft.com/office/2006/metadata/properties" xmlns:ns2="1a00bedf-322f-46cb-af9c-46997b6e6236" xmlns:ns3="6aecacfd-b495-4bd5-861f-943f8b8ac493" targetNamespace="http://schemas.microsoft.com/office/2006/metadata/properties" ma:root="true" ma:fieldsID="46234d34d49b2851fa07c514eef060f2" ns2:_="" ns3:_="">
    <xsd:import namespace="1a00bedf-322f-46cb-af9c-46997b6e6236"/>
    <xsd:import namespace="6aecacfd-b495-4bd5-861f-943f8b8ac4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00bedf-322f-46cb-af9c-46997b6e62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71e4ab9-48e6-401e-8cb3-95486c831b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ecacfd-b495-4bd5-861f-943f8b8ac49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9347734-f780-4589-8364-18a9f8880dc2}" ma:internalName="TaxCatchAll" ma:showField="CatchAllData" ma:web="6aecacfd-b495-4bd5-861f-943f8b8ac49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aecacfd-b495-4bd5-861f-943f8b8ac493" xsi:nil="true"/>
    <lcf76f155ced4ddcb4097134ff3c332f xmlns="1a00bedf-322f-46cb-af9c-46997b6e623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0DCCF59-B537-4383-B805-C9CBC10E5F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5EA402-A718-4B00-A3E7-100F7C23E356}"/>
</file>

<file path=customXml/itemProps3.xml><?xml version="1.0" encoding="utf-8"?>
<ds:datastoreItem xmlns:ds="http://schemas.openxmlformats.org/officeDocument/2006/customXml" ds:itemID="{36F5D3A8-10AD-4B9A-A4B6-AC5A43885C81}">
  <ds:schemaRefs>
    <ds:schemaRef ds:uri="1a00bedf-322f-46cb-af9c-46997b6e6236"/>
    <ds:schemaRef ds:uri="6aecacfd-b495-4bd5-861f-943f8b8ac493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0dc42001-9759-4b38-a906-152fbf37e35a}" enabled="1" method="Privileged" siteId="{a50e7b76-8ea5-492c-bf17-97d652fc3ce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2299</Words>
  <Application>Microsoft Macintosh PowerPoint</Application>
  <PresentationFormat>Widescreen</PresentationFormat>
  <Paragraphs>275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Aptos</vt:lpstr>
      <vt:lpstr>Arial</vt:lpstr>
      <vt:lpstr>Avenir Heavy</vt:lpstr>
      <vt:lpstr>Axiforma</vt:lpstr>
      <vt:lpstr>Axiforma SemiBold</vt:lpstr>
      <vt:lpstr>Calibri</vt:lpstr>
      <vt:lpstr>Calibri Light</vt:lpstr>
      <vt:lpstr>Tema - Cinza Claro</vt:lpstr>
      <vt:lpstr>Tema - Cinza Escuro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Paulo Yoshio Ida Suenaga</cp:lastModifiedBy>
  <cp:revision>2</cp:revision>
  <dcterms:modified xsi:type="dcterms:W3CDTF">2025-12-10T12:24:07Z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0x0101009E4697949286FB4089EAC08905B6F7D1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Tema do Office:6</vt:lpwstr>
  </property>
  <property fmtid="{D5CDD505-2E9C-101B-9397-08002B2CF9AE}" pid="5" name="ClassificationContentMarkingFooterText">
    <vt:lpwstr>Público</vt:lpwstr>
  </property>
</Properties>
</file>