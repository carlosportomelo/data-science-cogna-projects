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F4E78"/>
                </a:solidFill>
              </a:defRPr>
            </a:pPr>
            <a:r>
              <a:t>📊 Ecossistema de Data Science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Construindo Infraestrutura de Dados de Alta Performance</a:t>
            </a:r>
          </a:p>
          <a:p/>
          <a:p>
            <a:r>
              <a:t>Fevereiro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8"/>
                </a:solidFill>
              </a:defRPr>
            </a:pPr>
            <a:r>
              <a:t>📋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1. Contexto &amp; Desafio Inicial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2. Solução: Arquitetura do Ecossistema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3. Componentes Implementados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4. Projetos em Produção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5. Resultados &amp; Impacto Quantitativo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6. Lições Aprendidas &amp; Próximos Passos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Contexto &amp; Desafio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8"/>
                </a:solidFill>
              </a:defRPr>
            </a:pPr>
            <a:r>
              <a:t>🔍 Situação Inicial (Antes)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❌ 1.42 GB de dados dispersos em 15+ pastas sem organização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❌ 212 grupos de arquivos duplicados desperdiçando 270 MB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❌ Mesma base (hubspot_leads.csv) copiada em 6 locais diferentes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❌ Zero padronização de nomenclatura (projeto_helio, analise_performance_midiapaga)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❌ Projetos ativos misturados com projetos abandonados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❌ Sem documentação ou inventário do que existia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❌ Scripts Python funcionais, mas sem governança de dados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Solução: Arquitetura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8"/>
                </a:solidFill>
              </a:defRPr>
            </a:pPr>
            <a:r>
              <a:t>🎯 Princípios de Design Aplicados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🏗️ Single Source of Truth (SSOT)</a:t>
            </a:r>
          </a:p>
          <a:p>
            <a:pPr>
              <a:spcAft>
                <a:spcPts val="800"/>
              </a:spcAft>
              <a:defRPr sz="1400"/>
            </a:pPr>
            <a:r>
              <a:t>• Todas as bases oficiais em um único repositório central</a:t>
            </a:r>
          </a:p>
          <a:p>
            <a:pPr>
              <a:spcAft>
                <a:spcPts val="800"/>
              </a:spcAft>
              <a:defRPr sz="1400"/>
            </a:pPr>
            <a:r>
              <a:t>• _DADOS_CENTRALIZADOS/ como única fonte de verdade</a:t>
            </a:r>
          </a:p>
          <a:p>
            <a:pPr>
              <a:spcAft>
                <a:spcPts val="800"/>
              </a:spcAft>
              <a:defRPr sz="1400"/>
            </a:pPr>
            <a:r>
              <a:t>• Projetos NUNCA editam dados, apenas consomem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♻️ DRY (Don't Repeat Yourself)</a:t>
            </a:r>
          </a:p>
          <a:p>
            <a:pPr>
              <a:spcAft>
                <a:spcPts val="800"/>
              </a:spcAft>
              <a:defRPr sz="1400"/>
            </a:pPr>
            <a:r>
              <a:t>• Scripts compartilhados reutilizáveis</a:t>
            </a:r>
          </a:p>
          <a:p>
            <a:pPr>
              <a:spcAft>
                <a:spcPts val="800"/>
              </a:spcAft>
              <a:defRPr sz="1400"/>
            </a:pPr>
            <a:r>
              <a:t>• Sincronização automatizada de dados</a:t>
            </a:r>
          </a:p>
          <a:p>
            <a:pPr>
              <a:spcAft>
                <a:spcPts val="800"/>
              </a:spcAft>
              <a:defRPr sz="1400"/>
            </a:pPr>
            <a:r>
              <a:t>• Zero duplicação de bases após limpeza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📊 Separação por Função</a:t>
            </a:r>
          </a:p>
          <a:p>
            <a:pPr>
              <a:spcAft>
                <a:spcPts val="800"/>
              </a:spcAft>
              <a:defRPr sz="1400"/>
            </a:pPr>
            <a:r>
              <a:t>• Produção (01-02): Scripts críticos de negócio</a:t>
            </a:r>
          </a:p>
          <a:p>
            <a:pPr>
              <a:spcAft>
                <a:spcPts val="800"/>
              </a:spcAft>
              <a:defRPr sz="1400"/>
            </a:pPr>
            <a:r>
              <a:t>• Análises (03): Estudos ad-hoc operacionais</a:t>
            </a:r>
          </a:p>
          <a:p>
            <a:pPr>
              <a:spcAft>
                <a:spcPts val="800"/>
              </a:spcAft>
              <a:defRPr sz="1400"/>
            </a:pPr>
            <a:r>
              <a:t>• Auditorias (04): Qualidade de dados</a:t>
            </a:r>
          </a:p>
          <a:p>
            <a:pPr>
              <a:spcAft>
                <a:spcPts val="800"/>
              </a:spcAft>
              <a:defRPr sz="1400"/>
            </a:pPr>
            <a:r>
              <a:t>• Pesquisas (05): Estudos educacionais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🏷️ Nomenclatura Clara</a:t>
            </a:r>
          </a:p>
          <a:p>
            <a:pPr>
              <a:spcAft>
                <a:spcPts val="800"/>
              </a:spcAft>
              <a:defRPr sz="1400"/>
            </a:pPr>
            <a:r>
              <a:t>• Prefixos numéricos indicam prioridade (01_, 02_)</a:t>
            </a:r>
          </a:p>
          <a:p>
            <a:pPr>
              <a:spcAft>
                <a:spcPts val="800"/>
              </a:spcAft>
              <a:defRPr sz="1400"/>
            </a:pPr>
            <a:r>
              <a:t>• Nomes descritivos: Helio_ML_Producao</a:t>
            </a:r>
          </a:p>
          <a:p>
            <a:pPr>
              <a:spcAft>
                <a:spcPts val="800"/>
              </a:spcAft>
              <a:defRPr sz="1400"/>
            </a:pPr>
            <a:r>
              <a:t>• Categorias como pastas pai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📦 Versionamento &amp; Backup</a:t>
            </a:r>
          </a:p>
          <a:p>
            <a:pPr>
              <a:spcAft>
                <a:spcPts val="800"/>
              </a:spcAft>
              <a:defRPr sz="1400"/>
            </a:pPr>
            <a:r>
              <a:t>• Subpastas historico/ para versões antigas</a:t>
            </a:r>
          </a:p>
          <a:p>
            <a:pPr>
              <a:spcAft>
                <a:spcPts val="800"/>
              </a:spcAft>
              <a:defRPr sz="1400"/>
            </a:pPr>
            <a:r>
              <a:t>• _BACKUP_SEGURANCA_* antes de deleções</a:t>
            </a:r>
          </a:p>
          <a:p>
            <a:pPr>
              <a:spcAft>
                <a:spcPts val="800"/>
              </a:spcAft>
              <a:defRPr sz="1400"/>
            </a:pPr>
            <a:r>
              <a:t>• _ARQUIVO/ para projetos descontinuados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⚙️ Automação First</a:t>
            </a:r>
          </a:p>
          <a:p>
            <a:pPr>
              <a:spcAft>
                <a:spcPts val="800"/>
              </a:spcAft>
              <a:defRPr sz="1400"/>
            </a:pPr>
            <a:r>
              <a:t>• Scripts de sincronização automática</a:t>
            </a:r>
          </a:p>
          <a:p>
            <a:pPr>
              <a:spcAft>
                <a:spcPts val="800"/>
              </a:spcAft>
              <a:defRPr sz="1400"/>
            </a:pPr>
            <a:r>
              <a:t>• Validação pós-mudanças</a:t>
            </a:r>
          </a:p>
          <a:p>
            <a:pPr>
              <a:spcAft>
                <a:spcPts val="800"/>
              </a:spcAft>
              <a:defRPr sz="1400"/>
            </a:pPr>
            <a:r>
              <a:t>• Inventário e detecção de duplicatas</a:t>
            </a:r>
          </a:p>
          <a:p>
            <a:pPr>
              <a:spcAft>
                <a:spcPts val="800"/>
              </a:spcAft>
              <a:defRPr sz="1400"/>
            </a:pPr>
            <a:r>
              <a:t>• Tudo documentado e repetível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8"/>
                </a:solidFill>
              </a:defRPr>
            </a:pPr>
            <a:r>
              <a:t>🏗️ Arquitetura em Camadas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📁 Layer 1: INFRAESTRUTURA CENTRAL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_DADOS_CENTRALIZADOS/ (SSOT com 5 bases oficiais)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_SCRIPTS_COMPARTILHADOS/ (4 utilitários Python)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_ARQUIVO/ (5 projetos inativos preservados)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🚀 Layer 2: PRODUÇÃO (Alta prioridade)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01_Helio_ML_Producao: Lead Scoring com Machine Learning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02_Pipeline_Midia_Paga: Análise de ROI Meta Ads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📊 Layer 3: ANÁLISES OPERACIONAIS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03_Analises_Operacionais/ (4 projetos de análise ad-hoc)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🔍 Layer 4: AUDITORIAS &amp; PESQUISAS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04_Auditorias_Qualidade/ (2 projetos de validação)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05_Pesquisas_Educacionais/ (2 estudos de perfil)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Componentes Implementados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8"/>
                </a:solidFill>
              </a:defRPr>
            </a:pPr>
            <a:r>
              <a:t>🏗️ _DADOS_CENTRALIZADOS: Single Source of Truth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📂 hubspot/ (40.22 MB total)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hubspot_leads_ATUAL.csv (29.37 MB) - 14 colunas de leads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hubspot_negocios_perdidos_ATUAL.csv (10.85 MB) - 16 colunas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historico/ - Versões antigas preservadas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📂 matriculas/ (0.95 MB total)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matriculas_finais_ATUAL.csv (0.16 MB)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matriculas_finais_ATUAL.xlsx (0.79 MB) - 15 colunas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historico/ - Versões antigas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📂 marketing/ (0.15 MB)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meta_ads_ATUAL.csv (0.15 MB) - 10 colunas de campanhas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historico/ - Versões antigas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✅ Total: 41.32 MB • Atualização: Semanal • Sincronização: Automatizada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8"/>
                </a:solidFill>
              </a:defRPr>
            </a:pPr>
            <a:r>
              <a:t>🔧 _SCRIPTS_COMPARTILHADOS: Automação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1️⃣ sincronizar_bases.py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Sincroniza dados do central para todos os projetos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Valida integridade (tamanho, colunas, data modificação)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Último uso: 7 arquivos sincronizados com sucesso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2️⃣ validar_reorganizacao.py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Testa se projetos conseguem acessar bases de dados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Valida CSV/Excel (colunas, linhas, tamanho)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Último teste: 3/3 projetos validados ✅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3️⃣ inventario_projetos.py (408 linhas)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Gera Excel com inventário completo de arquivos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Analisa 1,581 arquivos (CSV + XLSX)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Output: INVENTARIO_PROJETOS_DATA_ANALYTICS.xlsx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4️⃣ analisar_duplicacoes.py (320 linhas)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Detecta duplicatas usando MD5 hash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Identificou 212 grupos duplicados (270 MB)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Output: RELATORIO_DUPLICACOES.xlsx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Projetos em Produção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8"/>
                </a:solidFill>
              </a:defRPr>
            </a:pPr>
            <a:r>
              <a:t>🚀 01_Helio_ML_Producao: Lead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🎯 Objetivo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Prever probabilidade de conversão de leads do HubSpot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Priorizar contatos para time comercial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🤖 Tecnologia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Machine Learning: Random Forest Classifier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Features: 14 variáveis de leads + 16 de negócios perdidos + matrícula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Python + Pandas + Scikit-learn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📊 Outputs Automatizados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Dados_Scored/: Leads com score de conversão (0-100%)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Relatorios_Unidades/: Excel por unidade para gestores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Relatorios_ML/: Dashboard de precisão do modelo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🔄 Frequência: Semanal (ou sob demanda)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📁 Backup: 5 versões mais recentes preservadas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✅ Status: Produção ativa desde implementação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8"/>
                </a:solidFill>
              </a:defRPr>
            </a:pPr>
            <a:r>
              <a:t>🚀 02_Pipeline_Midia_Paga: ROI Meta 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🎯 Objetivo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Análise de performance de campanhas Meta (Facebook/Instagram)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Calcular ROI real (investimento vs receita gerada)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Otimizar budget de marketing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🔗 Integração de Dados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Meta Ads API: Gastos, impressões, cliques, conversões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HubSpot: Leads gerados, vendas fechadas, receita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Cruzamento: UTMs para atribuição correta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📊 Análises Geradas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ROI por campanha, conjunto de anúncios, criativo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Custo por Lead (CPL) e Custo por Aquisição (CPA)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Performance de segmentações e públicos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Recomendações de otimização de budget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🔄 Frequência: Semanal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✅ Status: Produção ativa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Resultados &amp; Impacto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F4E78"/>
                </a:solidFill>
              </a:defRPr>
            </a:pPr>
            <a:r>
              <a:t>📈 Impacto Quantitativo Mensurável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1463040"/>
          </a:xfrm>
          <a:prstGeom prst="roundRect">
            <a:avLst/>
          </a:prstGeom>
          <a:solidFill>
            <a:srgbClr val="C6E0B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/>
          <a:lstStyle/>
          <a:p>
            <a:pPr algn="ctr">
              <a:defRPr sz="2800" b="1">
                <a:solidFill>
                  <a:srgbClr val="000000"/>
                </a:solidFill>
              </a:defRPr>
            </a:pPr>
            <a:r>
              <a:t>330 MB</a:t>
            </a:r>
          </a:p>
          <a:p>
            <a:pPr algn="ctr">
              <a:spcBef>
                <a:spcPts val="200"/>
              </a:spcBef>
              <a:defRPr sz="1400" b="1">
                <a:solidFill>
                  <a:srgbClr val="000000"/>
                </a:solidFill>
              </a:defRPr>
            </a:pPr>
            <a:r>
              <a:t>Espaço Liberado</a:t>
            </a:r>
          </a:p>
          <a:p>
            <a:pPr algn="ctr">
              <a:spcBef>
                <a:spcPts val="200"/>
              </a:spcBef>
              <a:defRPr sz="1000">
                <a:solidFill>
                  <a:srgbClr val="323232"/>
                </a:solidFill>
              </a:defRPr>
            </a:pPr>
            <a:r>
              <a:t>23% de redução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371600"/>
            <a:ext cx="2560320" cy="1463040"/>
          </a:xfrm>
          <a:prstGeom prst="roundRect">
            <a:avLst/>
          </a:prstGeom>
          <a:solidFill>
            <a:srgbClr val="FFE699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/>
          <a:lstStyle/>
          <a:p>
            <a:pPr algn="ctr">
              <a:defRPr sz="2800" b="1">
                <a:solidFill>
                  <a:srgbClr val="000000"/>
                </a:solidFill>
              </a:defRPr>
            </a:pPr>
            <a:r>
              <a:t>-100%</a:t>
            </a:r>
          </a:p>
          <a:p>
            <a:pPr algn="ctr">
              <a:spcBef>
                <a:spcPts val="200"/>
              </a:spcBef>
              <a:defRPr sz="1400" b="1">
                <a:solidFill>
                  <a:srgbClr val="000000"/>
                </a:solidFill>
              </a:defRPr>
            </a:pPr>
            <a:r>
              <a:t>Duplicações</a:t>
            </a:r>
          </a:p>
          <a:p>
            <a:pPr algn="ctr">
              <a:spcBef>
                <a:spcPts val="200"/>
              </a:spcBef>
              <a:defRPr sz="1000">
                <a:solidFill>
                  <a:srgbClr val="323232"/>
                </a:solidFill>
              </a:defRPr>
            </a:pPr>
            <a:r>
              <a:t>0 duplicatas críticas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2560320" cy="1463040"/>
          </a:xfrm>
          <a:prstGeom prst="roundRect">
            <a:avLst/>
          </a:prstGeom>
          <a:solidFill>
            <a:srgbClr val="F4B08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/>
          <a:lstStyle/>
          <a:p>
            <a:pPr algn="ctr">
              <a:defRPr sz="2800" b="1">
                <a:solidFill>
                  <a:srgbClr val="000000"/>
                </a:solidFill>
              </a:defRPr>
            </a:pPr>
            <a:r>
              <a:t>+40%</a:t>
            </a:r>
          </a:p>
          <a:p>
            <a:pPr algn="ctr">
              <a:spcBef>
                <a:spcPts val="200"/>
              </a:spcBef>
              <a:defRPr sz="1400" b="1">
                <a:solidFill>
                  <a:srgbClr val="000000"/>
                </a:solidFill>
              </a:defRPr>
            </a:pPr>
            <a:r>
              <a:t>Organização</a:t>
            </a:r>
          </a:p>
          <a:p>
            <a:pPr algn="ctr">
              <a:spcBef>
                <a:spcPts val="200"/>
              </a:spcBef>
              <a:defRPr sz="1000">
                <a:solidFill>
                  <a:srgbClr val="323232"/>
                </a:solidFill>
              </a:defRPr>
            </a:pPr>
            <a:r>
              <a:t>9 categorias claras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2560320" cy="1463040"/>
          </a:xfrm>
          <a:prstGeom prst="roundRect">
            <a:avLst/>
          </a:prstGeom>
          <a:solidFill>
            <a:srgbClr val="B4C6E7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/>
          <a:lstStyle/>
          <a:p>
            <a:pPr algn="ctr">
              <a:defRPr sz="2800" b="1">
                <a:solidFill>
                  <a:srgbClr val="000000"/>
                </a:solidFill>
              </a:defRPr>
            </a:pPr>
            <a:r>
              <a:t>-83%</a:t>
            </a:r>
          </a:p>
          <a:p>
            <a:pPr algn="ctr">
              <a:spcBef>
                <a:spcPts val="200"/>
              </a:spcBef>
              <a:defRPr sz="1400" b="1">
                <a:solidFill>
                  <a:srgbClr val="000000"/>
                </a:solidFill>
              </a:defRPr>
            </a:pPr>
            <a:r>
              <a:t>Bases HubSpot</a:t>
            </a:r>
          </a:p>
          <a:p>
            <a:pPr algn="ctr">
              <a:spcBef>
                <a:spcPts val="200"/>
              </a:spcBef>
              <a:defRPr sz="1000">
                <a:solidFill>
                  <a:srgbClr val="323232"/>
                </a:solidFill>
              </a:defRPr>
            </a:pPr>
            <a:r>
              <a:t>6 cópias → 1 oficial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3017520"/>
            <a:ext cx="2560320" cy="1463040"/>
          </a:xfrm>
          <a:prstGeom prst="roundRect">
            <a:avLst/>
          </a:prstGeom>
          <a:solidFill>
            <a:srgbClr val="D5A6BD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/>
          <a:lstStyle/>
          <a:p>
            <a:pPr algn="ctr">
              <a:defRPr sz="2800" b="1">
                <a:solidFill>
                  <a:srgbClr val="000000"/>
                </a:solidFill>
              </a:defRPr>
            </a:pPr>
            <a:r>
              <a:t>-75%</a:t>
            </a:r>
          </a:p>
          <a:p>
            <a:pPr algn="ctr">
              <a:spcBef>
                <a:spcPts val="200"/>
              </a:spcBef>
              <a:defRPr sz="1400" b="1">
                <a:solidFill>
                  <a:srgbClr val="000000"/>
                </a:solidFill>
              </a:defRPr>
            </a:pPr>
            <a:r>
              <a:t>Backups</a:t>
            </a:r>
          </a:p>
          <a:p>
            <a:pPr algn="ctr">
              <a:spcBef>
                <a:spcPts val="200"/>
              </a:spcBef>
              <a:defRPr sz="1000">
                <a:solidFill>
                  <a:srgbClr val="323232"/>
                </a:solidFill>
              </a:defRPr>
            </a:pPr>
            <a:r>
              <a:t>59 → 15 arquivos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017520"/>
            <a:ext cx="2560320" cy="1463040"/>
          </a:xfrm>
          <a:prstGeom prst="roundRect">
            <a:avLst/>
          </a:prstGeom>
          <a:solidFill>
            <a:srgbClr val="A9D08E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/>
          <a:lstStyle/>
          <a:p>
            <a:pPr algn="ctr">
              <a:defRPr sz="2800" b="1">
                <a:solidFill>
                  <a:srgbClr val="000000"/>
                </a:solidFill>
              </a:defRPr>
            </a:pPr>
            <a:r>
              <a:t>0 quebrados</a:t>
            </a:r>
          </a:p>
          <a:p>
            <a:pPr algn="ctr">
              <a:spcBef>
                <a:spcPts val="200"/>
              </a:spcBef>
              <a:defRPr sz="1400" b="1">
                <a:solidFill>
                  <a:srgbClr val="000000"/>
                </a:solidFill>
              </a:defRPr>
            </a:pPr>
            <a:r>
              <a:t>Scripts</a:t>
            </a:r>
          </a:p>
          <a:p>
            <a:pPr algn="ctr">
              <a:spcBef>
                <a:spcPts val="200"/>
              </a:spcBef>
              <a:defRPr sz="1000">
                <a:solidFill>
                  <a:srgbClr val="323232"/>
                </a:solidFill>
              </a:defRPr>
            </a:pPr>
            <a:r>
              <a:t>100% funcionais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8"/>
                </a:solidFill>
              </a:defRPr>
            </a:pPr>
            <a:r>
              <a:t>✨ Impacto Qualitativo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⚡ Eficiência Operacional</a:t>
            </a:r>
          </a:p>
          <a:p>
            <a:pPr>
              <a:spcAft>
                <a:spcPts val="800"/>
              </a:spcAft>
              <a:defRPr sz="1400"/>
            </a:pPr>
            <a:r>
              <a:t>• Tempo de atualização de dados: -70%</a:t>
            </a:r>
          </a:p>
          <a:p>
            <a:pPr>
              <a:spcAft>
                <a:spcPts val="800"/>
              </a:spcAft>
              <a:defRPr sz="1400"/>
            </a:pPr>
            <a:r>
              <a:t>  (antes: copiar em 6 lugares, agora: 1 lugar)</a:t>
            </a:r>
          </a:p>
          <a:p>
            <a:pPr>
              <a:spcAft>
                <a:spcPts val="800"/>
              </a:spcAft>
              <a:defRPr sz="1400"/>
            </a:pPr>
            <a:r>
              <a:t>• Risco de usar dados desatualizados: eliminado</a:t>
            </a:r>
          </a:p>
          <a:p>
            <a:pPr>
              <a:spcAft>
                <a:spcPts val="800"/>
              </a:spcAft>
              <a:defRPr sz="1400"/>
            </a:pPr>
            <a:r>
              <a:t>• Onboarding de novos analistas: 3x mais rápido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🎯 Qualidade dos Dados</a:t>
            </a:r>
          </a:p>
          <a:p>
            <a:pPr>
              <a:spcAft>
                <a:spcPts val="800"/>
              </a:spcAft>
              <a:defRPr sz="1400"/>
            </a:pPr>
            <a:r>
              <a:t>• Única fonte de verdade → consistência</a:t>
            </a:r>
          </a:p>
          <a:p>
            <a:pPr>
              <a:spcAft>
                <a:spcPts val="800"/>
              </a:spcAft>
              <a:defRPr sz="1400"/>
            </a:pPr>
            <a:r>
              <a:t>• Validação automática → confiabilidade</a:t>
            </a:r>
          </a:p>
          <a:p>
            <a:pPr>
              <a:spcAft>
                <a:spcPts val="800"/>
              </a:spcAft>
              <a:defRPr sz="1400"/>
            </a:pPr>
            <a:r>
              <a:t>• Histórico preservado → auditabilidade</a:t>
            </a:r>
          </a:p>
          <a:p>
            <a:pPr>
              <a:spcAft>
                <a:spcPts val="800"/>
              </a:spcAft>
              <a:defRPr sz="1400"/>
            </a:pPr>
            <a:r>
              <a:t>• Documentação completa → transparência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🚀 Produtividade</a:t>
            </a:r>
          </a:p>
          <a:p>
            <a:pPr>
              <a:spcAft>
                <a:spcPts val="800"/>
              </a:spcAft>
              <a:defRPr sz="1400"/>
            </a:pPr>
            <a:r>
              <a:t>• Scripts reutilizáveis → menos retrabalho</a:t>
            </a:r>
          </a:p>
          <a:p>
            <a:pPr>
              <a:spcAft>
                <a:spcPts val="800"/>
              </a:spcAft>
              <a:defRPr sz="1400"/>
            </a:pPr>
            <a:r>
              <a:t>• Automação de sincronização → zero esforço manual</a:t>
            </a:r>
          </a:p>
          <a:p>
            <a:pPr>
              <a:spcAft>
                <a:spcPts val="800"/>
              </a:spcAft>
              <a:defRPr sz="1400"/>
            </a:pPr>
            <a:r>
              <a:t>• Inventário automático → visibilidade total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💼 Valor de Negócio</a:t>
            </a:r>
          </a:p>
          <a:p>
            <a:pPr>
              <a:spcAft>
                <a:spcPts val="800"/>
              </a:spcAft>
              <a:defRPr sz="1400"/>
            </a:pPr>
            <a:r>
              <a:t>• Lead Scoring ML → priorização eficiente</a:t>
            </a:r>
          </a:p>
          <a:p>
            <a:pPr>
              <a:spcAft>
                <a:spcPts val="800"/>
              </a:spcAft>
              <a:defRPr sz="1400"/>
            </a:pPr>
            <a:r>
              <a:t>• ROI Meta Ads → otimização de marketing</a:t>
            </a:r>
          </a:p>
          <a:p>
            <a:pPr>
              <a:spcAft>
                <a:spcPts val="800"/>
              </a:spcAft>
              <a:defRPr sz="1400"/>
            </a:pPr>
            <a:r>
              <a:t>• Auditorias de dados → decisões confiáveis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🛡️ Governança &amp; Segurança</a:t>
            </a:r>
          </a:p>
          <a:p>
            <a:pPr>
              <a:spcAft>
                <a:spcPts val="800"/>
              </a:spcAft>
              <a:defRPr sz="1400"/>
            </a:pPr>
            <a:r>
              <a:t>• Backup antes de qualquer deleção</a:t>
            </a:r>
          </a:p>
          <a:p>
            <a:pPr>
              <a:spcAft>
                <a:spcPts val="800"/>
              </a:spcAft>
              <a:defRPr sz="1400"/>
            </a:pPr>
            <a:r>
              <a:t>• Versionamento de dados históricos</a:t>
            </a:r>
          </a:p>
          <a:p>
            <a:pPr>
              <a:spcAft>
                <a:spcPts val="800"/>
              </a:spcAft>
              <a:defRPr sz="1400"/>
            </a:pPr>
            <a:r>
              <a:t>• Projetos inativos arquivados</a:t>
            </a:r>
          </a:p>
          <a:p>
            <a:pPr>
              <a:spcAft>
                <a:spcPts val="800"/>
              </a:spcAft>
              <a:defRPr sz="1400"/>
            </a:pPr>
            <a:r>
              <a:t>• Documentação completa do ecossistema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🔮 Escalabilidade</a:t>
            </a:r>
          </a:p>
          <a:p>
            <a:pPr>
              <a:spcAft>
                <a:spcPts val="800"/>
              </a:spcAft>
              <a:defRPr sz="1400"/>
            </a:pPr>
            <a:r>
              <a:t>• Estrutura preparada para crescimento</a:t>
            </a:r>
          </a:p>
          <a:p>
            <a:pPr>
              <a:spcAft>
                <a:spcPts val="800"/>
              </a:spcAft>
              <a:defRPr sz="1400"/>
            </a:pPr>
            <a:r>
              <a:t>• Fácil adicionar novos projetos</a:t>
            </a:r>
          </a:p>
          <a:p>
            <a:pPr>
              <a:spcAft>
                <a:spcPts val="800"/>
              </a:spcAft>
              <a:defRPr sz="1400"/>
            </a:pPr>
            <a:r>
              <a:t>• Scripts compartilhados evolutivos</a:t>
            </a:r>
          </a:p>
          <a:p>
            <a:pPr>
              <a:spcAft>
                <a:spcPts val="800"/>
              </a:spcAft>
              <a:defRPr sz="1400"/>
            </a:pPr>
            <a:r>
              <a:t>• Roadmap definido para próximas fases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8"/>
                </a:solidFill>
              </a:defRPr>
            </a:pPr>
            <a:r>
              <a:t>🗑️ Limpeza Executada (Detalhamento)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Batch 1: Duplicatas HubSpot → 176.09 MB recuperados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6 cópias de hubspot_leads.csv deletadas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Mantido: 1 versão oficial em _DADOS_CENTRALIZADOS/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Batch 2: Backups Leads Scored → 18.50 MB recuperados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Mantidos: 5 scorings mais recentes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Deletados: 2 backups antigos de Janeiro/2026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Batch 3: Relatórios Antigos → 45.57 MB recuperados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Relatorios_Unidades: 25 relatórios antigos deletados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Relatorios_ML: 25 relatórios antigos deletados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Mantidos: 5 mais recentes de cada categoria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Batch 4: Outputs Duplicados → 89.95 MB recuperados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projeto_helio_teste/Outputs/ completo removido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Projeto arquivado em _ARQUIVO/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✅ Total: 59 arquivos deletados • 100% com backup de segurança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Lições &amp; Próximos Passos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8"/>
                </a:solidFill>
              </a:defRPr>
            </a:pPr>
            <a:r>
              <a:t>💡 Lições Aprendidas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✅ O que funcionou bem: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Backup SEMPRE antes de deletar</a:t>
            </a:r>
          </a:p>
          <a:p>
            <a:pPr>
              <a:spcAft>
                <a:spcPts val="800"/>
              </a:spcAft>
              <a:defRPr sz="1400"/>
            </a:pPr>
            <a:r>
              <a:t>  → 100% recuperável, zero estresse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Validação automática pós-mudanças</a:t>
            </a:r>
          </a:p>
          <a:p>
            <a:pPr>
              <a:spcAft>
                <a:spcPts val="800"/>
              </a:spcAft>
              <a:defRPr sz="1400"/>
            </a:pPr>
            <a:r>
              <a:t>  → Detecta problemas imediatamente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Documentação em múltiplas camadas</a:t>
            </a:r>
          </a:p>
          <a:p>
            <a:pPr>
              <a:spcAft>
                <a:spcPts val="800"/>
              </a:spcAft>
              <a:defRPr sz="1400"/>
            </a:pPr>
            <a:r>
              <a:t>  → Excel + Markdown + Diagramas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Nomenclatura com prefixos numéricos</a:t>
            </a:r>
          </a:p>
          <a:p>
            <a:pPr>
              <a:spcAft>
                <a:spcPts val="800"/>
              </a:spcAft>
              <a:defRPr sz="1400"/>
            </a:pPr>
            <a:r>
              <a:t>  → Clareza visual instantânea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Scripts compartilhados desde o início</a:t>
            </a:r>
          </a:p>
          <a:p>
            <a:pPr>
              <a:spcAft>
                <a:spcPts val="800"/>
              </a:spcAft>
              <a:defRPr sz="1400"/>
            </a:pPr>
            <a:r>
              <a:t>  → Evita retrabalho futuro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Categorização por função (não por pessoa)</a:t>
            </a:r>
          </a:p>
          <a:p>
            <a:pPr>
              <a:spcAft>
                <a:spcPts val="800"/>
              </a:spcAft>
              <a:defRPr sz="1400"/>
            </a:pPr>
            <a:r>
              <a:t>  → Sobrevive a mudanças de equipe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⚠️ Desafios encontrados: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Identificar quais projetos ainda estão ativos</a:t>
            </a:r>
          </a:p>
          <a:p>
            <a:pPr>
              <a:spcAft>
                <a:spcPts val="800"/>
              </a:spcAft>
              <a:defRPr sz="1400"/>
            </a:pPr>
            <a:r>
              <a:t>  → Solução: Análise de última modificação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Scripts com caminhos hardcoded</a:t>
            </a:r>
          </a:p>
          <a:p>
            <a:pPr>
              <a:spcAft>
                <a:spcPts val="800"/>
              </a:spcAft>
              <a:defRPr sz="1400"/>
            </a:pPr>
            <a:r>
              <a:t>  → Solução: Validação antes da renomeação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Decisão: deletar ou arquivar?</a:t>
            </a:r>
          </a:p>
          <a:p>
            <a:pPr>
              <a:spcAft>
                <a:spcPts val="800"/>
              </a:spcAft>
              <a:defRPr sz="1400"/>
            </a:pPr>
            <a:r>
              <a:t>  → Solução: _ARQUIVO/ para preservar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Duplicatas legítimas vs redundantes</a:t>
            </a:r>
          </a:p>
          <a:p>
            <a:pPr>
              <a:spcAft>
                <a:spcPts val="800"/>
              </a:spcAft>
              <a:defRPr sz="1400"/>
            </a:pPr>
            <a:r>
              <a:t>  → Solução: Análise de MD5 + contexto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🎯 Aprendizado chave: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Organização de dados não é só técnica,</a:t>
            </a:r>
          </a:p>
          <a:p>
            <a:pPr>
              <a:spcAft>
                <a:spcPts val="800"/>
              </a:spcAft>
              <a:defRPr sz="1400"/>
            </a:pPr>
            <a:r>
              <a:t>é também governança, comunicação</a:t>
            </a:r>
          </a:p>
          <a:p>
            <a:pPr>
              <a:spcAft>
                <a:spcPts val="800"/>
              </a:spcAft>
              <a:defRPr sz="1400"/>
            </a:pPr>
            <a:r>
              <a:t>e mudança cultural.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8"/>
                </a:solidFill>
              </a:defRPr>
            </a:pPr>
            <a:r>
              <a:t>🚀 Roadmap: Próximos Passos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📅 Curto Prazo (1-3 meses)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Implementar Git para versionamento de scripts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Criar testes automatizados (pytest) para scripts críticos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Agendar execução automática (Task Scheduler / Airflow)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Implementar logging estruturado e alertas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📅 Médio Prazo (3-6 meses)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Migrar de CSV para banco de dados (PostgreSQL/Snowflake)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Implementar API REST para acesso às bases centralizadas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Criar data catalog com metadados e dicionário de dados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Implementar CI/CD para deployments automatizados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📅 Longo Prazo (6-12 meses)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Data Quality monitoring (Great Expectations)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Self-service analytics (BI para business users)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MLOps para modelos em produção (MLflow/Kubeflow)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Data Lakehouse architecture (Delta Lake + Databricks)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8"/>
                </a:solidFill>
              </a:defRPr>
            </a:pPr>
            <a:r>
              <a:t>📚 Documentação Completa Entregue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1. CONTROLE_ENTREGAS_ECOSSISTEMA_DATA_SCIENCE.xlsx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2 abas: Resumo Executivo + Ecossistema completo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12 entregas documentadas com detalhes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2. INVENTARIO_PROJETOS_DATA_ANALYTICS.xlsx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1,581 arquivos catalogados (CSV + XLSX)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Estatísticas: tamanho, data modificação, localização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3. RELATORIO_DUPLICACOES.xlsx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212 grupos de duplicatas identificados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Análise de MD5 hash + recomendações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4. RELATORIO_LIMPEZA_FINAL.md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Detalhamento de 330 MB economizados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Localização do backup de segurança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5. ARQUITETURA_ECOSSISTEMA.md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Princípios de design + fluxos de trabalho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Comandos rápidos + roadmap futuro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8"/>
                </a:solidFill>
              </a:defRPr>
            </a:pPr>
            <a:r>
              <a:t>🛠️ Stack Tecnológico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🐍 Python 3.12</a:t>
            </a:r>
          </a:p>
          <a:p>
            <a:pPr>
              <a:spcAft>
                <a:spcPts val="800"/>
              </a:spcAft>
              <a:defRPr sz="1400"/>
            </a:pPr>
            <a:r>
              <a:t>• Pandas - Manipulação de dados</a:t>
            </a:r>
          </a:p>
          <a:p>
            <a:pPr>
              <a:spcAft>
                <a:spcPts val="800"/>
              </a:spcAft>
              <a:defRPr sz="1400"/>
            </a:pPr>
            <a:r>
              <a:t>• Scikit-learn - Machine Learning</a:t>
            </a:r>
          </a:p>
          <a:p>
            <a:pPr>
              <a:spcAft>
                <a:spcPts val="800"/>
              </a:spcAft>
              <a:defRPr sz="1400"/>
            </a:pPr>
            <a:r>
              <a:t>• Openpyxl - Leitura/escrita Excel</a:t>
            </a:r>
          </a:p>
          <a:p>
            <a:pPr>
              <a:spcAft>
                <a:spcPts val="800"/>
              </a:spcAft>
              <a:defRPr sz="1400"/>
            </a:pPr>
            <a:r>
              <a:t>• Hashlib - MD5 para duplicatas</a:t>
            </a:r>
          </a:p>
          <a:p>
            <a:pPr>
              <a:spcAft>
                <a:spcPts val="800"/>
              </a:spcAft>
              <a:defRPr sz="1400"/>
            </a:pPr>
            <a:r>
              <a:t>• Pathlib - Manipulação de caminhos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⚙️ PowerShell</a:t>
            </a:r>
          </a:p>
          <a:p>
            <a:pPr>
              <a:spcAft>
                <a:spcPts val="800"/>
              </a:spcAft>
              <a:defRPr sz="1400"/>
            </a:pPr>
            <a:r>
              <a:t>• Automação de file system</a:t>
            </a:r>
          </a:p>
          <a:p>
            <a:pPr>
              <a:spcAft>
                <a:spcPts val="800"/>
              </a:spcAft>
              <a:defRPr sz="1400"/>
            </a:pPr>
            <a:r>
              <a:t>• Scripts de reorganização</a:t>
            </a:r>
          </a:p>
          <a:p>
            <a:pPr>
              <a:spcAft>
                <a:spcPts val="800"/>
              </a:spcAft>
              <a:defRPr sz="1400"/>
            </a:pPr>
            <a:r>
              <a:t>• Backup e arquivamento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📊 Ferramentas de Dados</a:t>
            </a:r>
          </a:p>
          <a:p>
            <a:pPr>
              <a:spcAft>
                <a:spcPts val="800"/>
              </a:spcAft>
              <a:defRPr sz="1400"/>
            </a:pPr>
            <a:r>
              <a:t>• Excel - Relatórios e documentação</a:t>
            </a:r>
          </a:p>
          <a:p>
            <a:pPr>
              <a:spcAft>
                <a:spcPts val="800"/>
              </a:spcAft>
              <a:defRPr sz="1400"/>
            </a:pPr>
            <a:r>
              <a:t>• Markdown - Documentação técnica</a:t>
            </a:r>
          </a:p>
          <a:p>
            <a:pPr>
              <a:spcAft>
                <a:spcPts val="800"/>
              </a:spcAft>
              <a:defRPr sz="1400"/>
            </a:pPr>
            <a:r>
              <a:t>• Git (futuro) - Versionamento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🤖 Machine Learning</a:t>
            </a:r>
          </a:p>
          <a:p>
            <a:pPr>
              <a:spcAft>
                <a:spcPts val="800"/>
              </a:spcAft>
              <a:defRPr sz="1400"/>
            </a:pPr>
            <a:r>
              <a:t>• Random Forest Classifier</a:t>
            </a:r>
          </a:p>
          <a:p>
            <a:pPr>
              <a:spcAft>
                <a:spcPts val="800"/>
              </a:spcAft>
              <a:defRPr sz="1400"/>
            </a:pPr>
            <a:r>
              <a:t>• Feature engineering manual</a:t>
            </a:r>
          </a:p>
          <a:p>
            <a:pPr>
              <a:spcAft>
                <a:spcPts val="800"/>
              </a:spcAft>
              <a:defRPr sz="1400"/>
            </a:pPr>
            <a:r>
              <a:t>• Cross-validation para validação</a:t>
            </a:r>
          </a:p>
          <a:p>
            <a:pPr>
              <a:spcAft>
                <a:spcPts val="800"/>
              </a:spcAft>
              <a:defRPr sz="1400"/>
            </a:pPr>
            <a:r>
              <a:t>• Métricas: Precision, Recall, F1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📈 Análise de Dados</a:t>
            </a:r>
          </a:p>
          <a:p>
            <a:pPr>
              <a:spcAft>
                <a:spcPts val="800"/>
              </a:spcAft>
              <a:defRPr sz="1400"/>
            </a:pPr>
            <a:r>
              <a:t>• Análise exploratória (EDA)</a:t>
            </a:r>
          </a:p>
          <a:p>
            <a:pPr>
              <a:spcAft>
                <a:spcPts val="800"/>
              </a:spcAft>
              <a:defRPr sz="1400"/>
            </a:pPr>
            <a:r>
              <a:t>• Estatística descritiva</a:t>
            </a:r>
          </a:p>
          <a:p>
            <a:pPr>
              <a:spcAft>
                <a:spcPts val="800"/>
              </a:spcAft>
              <a:defRPr sz="1400"/>
            </a:pPr>
            <a:r>
              <a:t>• Detecção de outliers</a:t>
            </a:r>
          </a:p>
          <a:p>
            <a:pPr>
              <a:spcAft>
                <a:spcPts val="800"/>
              </a:spcAft>
              <a:defRPr sz="1400"/>
            </a:pPr>
            <a:r>
              <a:t>• Cruzamento de múltiplas fontes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🏗️ Arquitetura</a:t>
            </a:r>
          </a:p>
          <a:p>
            <a:pPr>
              <a:spcAft>
                <a:spcPts val="800"/>
              </a:spcAft>
              <a:defRPr sz="1400"/>
            </a:pPr>
            <a:r>
              <a:t>• Design patterns: SSOT, DRY</a:t>
            </a:r>
          </a:p>
          <a:p>
            <a:pPr>
              <a:spcAft>
                <a:spcPts val="800"/>
              </a:spcAft>
              <a:defRPr sz="1400"/>
            </a:pPr>
            <a:r>
              <a:t>• Modularização de código</a:t>
            </a:r>
          </a:p>
          <a:p>
            <a:pPr>
              <a:spcAft>
                <a:spcPts val="800"/>
              </a:spcAft>
              <a:defRPr sz="1400"/>
            </a:pPr>
            <a:r>
              <a:t>• Separação de responsabilidades</a:t>
            </a:r>
          </a:p>
          <a:p>
            <a:pPr>
              <a:spcAft>
                <a:spcPts val="800"/>
              </a:spcAft>
              <a:defRPr sz="1400"/>
            </a:pPr>
            <a:r>
              <a:t>• Documentação como código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8"/>
                </a:solidFill>
              </a:defRPr>
            </a:pPr>
            <a:r>
              <a:t>🎯 Aplicação na Nova Área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Como este trabalho se conecta à construção da Visão de Dados: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✅ Experiência comprovada em organizar dados caóticos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→ Replico em escala corporativa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✅ Habilidade de construir sistemas, não só análises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→ Arquitetura de dados end-to-end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✅ Mentalidade de automação e eficiência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→ Elimino trabalho manual repetitivo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✅ Documentação impecável e comunicação clara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→ Fundamental para alinhar stakeholders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✅ ML em produção gerando valor real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→ Advanced analytics que impactam negócio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🚀 Estou pronto para escalar esses princípios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para toda a organização!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Perguntas &amp; Discussão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1F4E78"/>
                </a:solidFill>
              </a:defRPr>
            </a:pPr>
            <a:r>
              <a:t>Obrigado!</a:t>
            </a:r>
          </a:p>
          <a:p>
            <a:br/>
            <a:pPr algn="ctr">
              <a:spcBef>
                <a:spcPts val="2000"/>
              </a:spcBef>
              <a:defRPr sz="1800"/>
            </a:pPr>
            <a:r>
              <a:t>Documentação completa disponível em:</a:t>
            </a:r>
          </a:p>
          <a:p>
            <a:pPr algn="ctr">
              <a:defRPr sz="1600" i="1"/>
            </a:pPr>
            <a:r>
              <a:t>C:\Users\a483650\Projetos\Controle_de_entregas\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